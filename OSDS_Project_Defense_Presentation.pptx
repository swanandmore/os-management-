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822960"/>
            <a:ext cx="59436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000" b="1">
                <a:solidFill>
                  <a:srgbClr val="38BDF8"/>
                </a:solidFill>
                <a:latin typeface="Segoe UI"/>
              </a:defRPr>
            </a:pPr>
            <a:r>
              <a:t>OPERATING SYSTEMS &amp; DISTRIBUTED SYSTEMS (OSDS) PROJECT DEFENSE</a:t>
            </a:r>
          </a:p>
        </p:txBody>
      </p:sp>
      <p:sp>
        <p:nvSpPr>
          <p:cNvPr id="5" name="TextBox 4"/>
          <p:cNvSpPr txBox="1"/>
          <p:nvPr/>
        </p:nvSpPr>
        <p:spPr>
          <a:xfrm>
            <a:off x="731520" y="1280160"/>
            <a:ext cx="10728655" cy="1645920"/>
          </a:xfrm>
          <a:prstGeom prst="rect">
            <a:avLst/>
          </a:prstGeom>
          <a:noFill/>
        </p:spPr>
        <p:txBody>
          <a:bodyPr wrap="square">
            <a:spAutoFit/>
          </a:bodyPr>
          <a:lstStyle/>
          <a:p>
            <a:pPr>
              <a:defRPr sz="2800" b="1">
                <a:solidFill>
                  <a:srgbClr val="FFFFFF"/>
                </a:solidFill>
                <a:latin typeface="Segoe UI"/>
              </a:defRPr>
            </a:pPr>
            <a:r>
              <a:t>OS Resource Management &amp; Algorithm Simulator</a:t>
            </a:r>
          </a:p>
          <a:p>
            <a:pPr>
              <a:spcBef>
                <a:spcPts val="800"/>
              </a:spcBef>
              <a:defRPr sz="1400">
                <a:solidFill>
                  <a:srgbClr val="38BDF8"/>
                </a:solidFill>
                <a:latin typeface="Segoe UI"/>
              </a:defRPr>
            </a:pPr>
            <a:r>
              <a:t>Sub-Second Kernel Telemetry Pipeline, Interactive Algorithmic Laboratory &amp; Embedded Host Shell</a:t>
            </a:r>
          </a:p>
        </p:txBody>
      </p:sp>
      <p:sp>
        <p:nvSpPr>
          <p:cNvPr id="6" name="Rounded Rectangle 5"/>
          <p:cNvSpPr/>
          <p:nvPr/>
        </p:nvSpPr>
        <p:spPr>
          <a:xfrm>
            <a:off x="731520" y="3108960"/>
            <a:ext cx="5120640" cy="310896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l">
              <a:defRPr sz="1300" b="1">
                <a:solidFill>
                  <a:srgbClr val="38BDF8"/>
                </a:solidFill>
                <a:latin typeface="Segoe UI"/>
              </a:defRPr>
            </a:pPr>
            <a:r>
              <a:t>ACADEMIC INSTITUTION &amp; DEPARTMENT</a:t>
            </a:r>
          </a:p>
          <a:p>
            <a:pPr>
              <a:defRPr sz="1000">
                <a:solidFill>
                  <a:srgbClr val="94A3B8"/>
                </a:solidFill>
                <a:latin typeface="Segoe UI"/>
              </a:defRPr>
            </a:pPr>
            <a:r>
              <a:t>Bansilal Ramnath Agarwal Charitable Trust's</a:t>
            </a:r>
          </a:p>
          <a:p>
            <a:pPr>
              <a:defRPr sz="1300" b="1">
                <a:solidFill>
                  <a:srgbClr val="FFFFFF"/>
                </a:solidFill>
                <a:latin typeface="Segoe UI"/>
              </a:defRPr>
            </a:pPr>
            <a:r>
              <a:t>VISHWAKARMA INSTITUTE OF TECHNOLOGY, PUNE</a:t>
            </a:r>
          </a:p>
          <a:p>
            <a:pPr>
              <a:spcAft>
                <a:spcPts val="1000"/>
              </a:spcAft>
              <a:defRPr sz="950">
                <a:solidFill>
                  <a:srgbClr val="94A3B8"/>
                </a:solidFill>
                <a:latin typeface="Segoe UI"/>
              </a:defRPr>
            </a:pPr>
            <a:r>
              <a:t>(An Autonomous Institute Affiliated to Savitribai Phule Pune University)</a:t>
            </a:r>
          </a:p>
          <a:p>
            <a:pPr>
              <a:spcAft>
                <a:spcPts val="600"/>
              </a:spcAft>
            </a:pPr>
            <a:r>
              <a:rPr sz="1050" b="1">
                <a:solidFill>
                  <a:srgbClr val="FFFFFF"/>
                </a:solidFill>
                <a:latin typeface="Segoe UI"/>
              </a:rPr>
              <a:t>▪ Department  -  </a:t>
            </a:r>
            <a:r>
              <a:rPr sz="1000">
                <a:solidFill>
                  <a:srgbClr val="94A3B8"/>
                </a:solidFill>
                <a:latin typeface="Segoe UI"/>
              </a:rPr>
              <a:t>Computer Science &amp; Engineering (IoT, CSBT)</a:t>
            </a:r>
          </a:p>
          <a:p>
            <a:pPr>
              <a:spcAft>
                <a:spcPts val="600"/>
              </a:spcAft>
            </a:pPr>
            <a:r>
              <a:rPr sz="1050" b="1">
                <a:solidFill>
                  <a:srgbClr val="FFFFFF"/>
                </a:solidFill>
                <a:latin typeface="Segoe UI"/>
              </a:rPr>
              <a:t>▪ Class &amp; Batch  -  </a:t>
            </a:r>
            <a:r>
              <a:rPr sz="1000">
                <a:solidFill>
                  <a:srgbClr val="94A3B8"/>
                </a:solidFill>
                <a:latin typeface="Segoe UI"/>
              </a:rPr>
              <a:t>Third Year B.Tech (TY CBI-B), Batch B1</a:t>
            </a:r>
          </a:p>
          <a:p>
            <a:pPr>
              <a:spcAft>
                <a:spcPts val="600"/>
              </a:spcAft>
            </a:pPr>
            <a:r>
              <a:rPr sz="1050" b="1">
                <a:solidFill>
                  <a:srgbClr val="FFFFFF"/>
                </a:solidFill>
                <a:latin typeface="Segoe UI"/>
              </a:rPr>
              <a:t>▪ Internal Guide  -  </a:t>
            </a:r>
            <a:r>
              <a:rPr sz="1000">
                <a:solidFill>
                  <a:srgbClr val="94A3B8"/>
                </a:solidFill>
                <a:latin typeface="Segoe UI"/>
              </a:rPr>
              <a:t>Prof. Rupali Bathe</a:t>
            </a:r>
          </a:p>
          <a:p>
            <a:pPr>
              <a:spcAft>
                <a:spcPts val="600"/>
              </a:spcAft>
            </a:pPr>
            <a:r>
              <a:rPr sz="1050" b="1">
                <a:solidFill>
                  <a:srgbClr val="FFFFFF"/>
                </a:solidFill>
                <a:latin typeface="Segoe UI"/>
              </a:rPr>
              <a:t>▪ Head of Department  -  </a:t>
            </a:r>
            <a:r>
              <a:rPr sz="1000">
                <a:solidFill>
                  <a:srgbClr val="94A3B8"/>
                </a:solidFill>
                <a:latin typeface="Segoe UI"/>
              </a:rPr>
              <a:t>Dr. Priya Shelke</a:t>
            </a:r>
          </a:p>
          <a:p>
            <a:pPr>
              <a:spcAft>
                <a:spcPts val="600"/>
              </a:spcAft>
            </a:pPr>
            <a:r>
              <a:rPr sz="1050" b="1">
                <a:solidFill>
                  <a:srgbClr val="FFFFFF"/>
                </a:solidFill>
                <a:latin typeface="Segoe UI"/>
              </a:rPr>
              <a:t>▪ Academic Year  -  </a:t>
            </a:r>
            <a:r>
              <a:rPr sz="1000">
                <a:solidFill>
                  <a:srgbClr val="94A3B8"/>
                </a:solidFill>
                <a:latin typeface="Segoe UI"/>
              </a:rPr>
              <a:t>2026-27 | Group ID: B1-OSDS-09</a:t>
            </a:r>
          </a:p>
        </p:txBody>
      </p:sp>
      <p:sp>
        <p:nvSpPr>
          <p:cNvPr id="7" name="Rounded Rectangle 6"/>
          <p:cNvSpPr/>
          <p:nvPr/>
        </p:nvSpPr>
        <p:spPr>
          <a:xfrm>
            <a:off x="6126480" y="3108960"/>
            <a:ext cx="5303520" cy="310896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l">
              <a:defRPr sz="1300" b="1">
                <a:solidFill>
                  <a:srgbClr val="818CF8"/>
                </a:solidFill>
                <a:latin typeface="Segoe UI"/>
              </a:defRPr>
            </a:pPr>
            <a:r>
              <a:t>DEFENDING CANDIDATES &amp; DOMAIN ALLOCATION</a:t>
            </a:r>
          </a:p>
          <a:p>
            <a:pPr>
              <a:spcAft>
                <a:spcPts val="400"/>
              </a:spcAft>
            </a:pPr>
            <a:r>
              <a:rPr sz="1100" b="1">
                <a:solidFill>
                  <a:srgbClr val="FFFFFF"/>
                </a:solidFill>
                <a:latin typeface="Segoe UI"/>
              </a:rPr>
              <a:t>• Shaunak Kulkarni </a:t>
            </a:r>
            <a:r>
              <a:rPr sz="950">
                <a:solidFill>
                  <a:srgbClr val="FBBF24"/>
                </a:solidFill>
                <a:latin typeface="Segoe UI"/>
              </a:rPr>
              <a:t>(Roll No: 23 | GR: 1241336)
</a:t>
            </a:r>
            <a:r>
              <a:rPr sz="950">
                <a:solidFill>
                  <a:srgbClr val="94A3B8"/>
                </a:solidFill>
                <a:latin typeface="Segoe UI"/>
              </a:rPr>
              <a:t>   Domain: Kernel Telemetry, 350ms WebSocket, Time-Series</a:t>
            </a:r>
          </a:p>
          <a:p>
            <a:pPr>
              <a:spcAft>
                <a:spcPts val="400"/>
              </a:spcAft>
            </a:pPr>
            <a:r>
              <a:rPr sz="1100" b="1">
                <a:solidFill>
                  <a:srgbClr val="FFFFFF"/>
                </a:solidFill>
                <a:latin typeface="Segoe UI"/>
              </a:rPr>
              <a:t>• Jatin Jogale </a:t>
            </a:r>
            <a:r>
              <a:rPr sz="950">
                <a:solidFill>
                  <a:srgbClr val="FBBF24"/>
                </a:solidFill>
                <a:latin typeface="Segoe UI"/>
              </a:rPr>
              <a:t>(Roll No: 04 | GR: 12411744)
</a:t>
            </a:r>
            <a:r>
              <a:rPr sz="950">
                <a:solidFill>
                  <a:srgbClr val="94A3B8"/>
                </a:solidFill>
                <a:latin typeface="Segoe UI"/>
              </a:rPr>
              <a:t>   Domain: CPU Scheduling (SRTF, FCFS, SJF, RR), Gantt Tracker</a:t>
            </a:r>
          </a:p>
          <a:p>
            <a:pPr>
              <a:spcAft>
                <a:spcPts val="400"/>
              </a:spcAft>
            </a:pPr>
            <a:r>
              <a:rPr sz="1100" b="1">
                <a:solidFill>
                  <a:srgbClr val="FFFFFF"/>
                </a:solidFill>
                <a:latin typeface="Segoe UI"/>
              </a:rPr>
              <a:t>• Swanand More </a:t>
            </a:r>
            <a:r>
              <a:rPr sz="950">
                <a:solidFill>
                  <a:srgbClr val="FBBF24"/>
                </a:solidFill>
                <a:latin typeface="Segoe UI"/>
              </a:rPr>
              <a:t>(Roll No: 43 | GR: 12411425)
</a:t>
            </a:r>
            <a:r>
              <a:rPr sz="950">
                <a:solidFill>
                  <a:srgbClr val="94A3B8"/>
                </a:solidFill>
                <a:latin typeface="Segoe UI"/>
              </a:rPr>
              <a:t>   Domain: Memory Partitions, Compaction, Page Faults, Belady's</a:t>
            </a:r>
          </a:p>
          <a:p>
            <a:pPr>
              <a:spcAft>
                <a:spcPts val="400"/>
              </a:spcAft>
            </a:pPr>
            <a:r>
              <a:rPr sz="1100" b="1">
                <a:solidFill>
                  <a:srgbClr val="FFFFFF"/>
                </a:solidFill>
                <a:latin typeface="Segoe UI"/>
              </a:rPr>
              <a:t>• Trunal Pawar </a:t>
            </a:r>
            <a:r>
              <a:rPr sz="950">
                <a:solidFill>
                  <a:srgbClr val="FBBF24"/>
                </a:solidFill>
                <a:latin typeface="Segoe UI"/>
              </a:rPr>
              <a:t>(Roll No: 65 | GR: 12415266)
</a:t>
            </a:r>
            <a:r>
              <a:rPr sz="950">
                <a:solidFill>
                  <a:srgbClr val="94A3B8"/>
                </a:solidFill>
                <a:latin typeface="Segoe UI"/>
              </a:rPr>
              <a:t>   Domain: Disk Arm Trajectory (SCAN/SSTF), Deadlock, Web Shell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GROUP SYNOPSIS &amp; MODULE MAPPING</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4-Member Technical Specialization &amp; Architectural Domain Ownership</a:t>
            </a:r>
          </a:p>
          <a:p>
            <a:pPr>
              <a:defRPr sz="1100">
                <a:solidFill>
                  <a:srgbClr val="94A3B8"/>
                </a:solidFill>
                <a:latin typeface="Segoe UI"/>
              </a:defRPr>
            </a:pPr>
            <a:r>
              <a:t>Group No: B1-OSDS-09 | Each member authored exactly 2 dedicated pages in the technical defense report</a:t>
            </a:r>
          </a:p>
        </p:txBody>
      </p:sp>
      <p:graphicFrame>
        <p:nvGraphicFramePr>
          <p:cNvPr id="5" name="Table 4"/>
          <p:cNvGraphicFramePr>
            <a:graphicFrameLocks noGrp="1"/>
          </p:cNvGraphicFramePr>
          <p:nvPr/>
        </p:nvGraphicFramePr>
        <p:xfrm>
          <a:off x="731520" y="1645920"/>
          <a:ext cx="10728655" cy="2926080"/>
        </p:xfrm>
        <a:graphic>
          <a:graphicData uri="http://schemas.openxmlformats.org/drawingml/2006/table">
            <a:tbl>
              <a:tblPr firstRow="1" bandRow="1">
                <a:tableStyleId>{5C22544A-7EE6-4342-B048-85BDC9FD1C3A}</a:tableStyleId>
              </a:tblPr>
              <a:tblGrid>
                <a:gridCol w="1005840"/>
                <a:gridCol w="1280160"/>
                <a:gridCol w="2011680"/>
                <a:gridCol w="4236415"/>
                <a:gridCol w="2194560"/>
              </a:tblGrid>
              <a:tr h="585216">
                <a:tc>
                  <a:txBody>
                    <a:bodyPr/>
                    <a:lstStyle/>
                    <a:p>
                      <a:pPr algn="ctr">
                        <a:defRPr sz="1050" b="1">
                          <a:solidFill>
                            <a:srgbClr val="38BDF8"/>
                          </a:solidFill>
                          <a:latin typeface="Segoe UI"/>
                        </a:defRPr>
                      </a:pPr>
                      <a:r>
                        <a:t>Roll No.</a:t>
                      </a:r>
                    </a:p>
                  </a:txBody>
                  <a:tcPr>
                    <a:solidFill>
                      <a:srgbClr val="0F172A"/>
                    </a:solidFill>
                  </a:tcPr>
                </a:tc>
                <a:tc>
                  <a:txBody>
                    <a:bodyPr/>
                    <a:lstStyle/>
                    <a:p>
                      <a:pPr algn="ctr">
                        <a:defRPr sz="1050" b="1">
                          <a:solidFill>
                            <a:srgbClr val="38BDF8"/>
                          </a:solidFill>
                          <a:latin typeface="Segoe UI"/>
                        </a:defRPr>
                      </a:pPr>
                      <a:r>
                        <a:t>G.R. No.</a:t>
                      </a:r>
                    </a:p>
                  </a:txBody>
                  <a:tcPr>
                    <a:solidFill>
                      <a:srgbClr val="0F172A"/>
                    </a:solidFill>
                  </a:tcPr>
                </a:tc>
                <a:tc>
                  <a:txBody>
                    <a:bodyPr/>
                    <a:lstStyle/>
                    <a:p>
                      <a:pPr algn="l">
                        <a:defRPr sz="1050" b="1">
                          <a:solidFill>
                            <a:srgbClr val="38BDF8"/>
                          </a:solidFill>
                          <a:latin typeface="Segoe UI"/>
                        </a:defRPr>
                      </a:pPr>
                      <a:r>
                        <a:t>Student Name</a:t>
                      </a:r>
                    </a:p>
                  </a:txBody>
                  <a:tcPr>
                    <a:solidFill>
                      <a:srgbClr val="0F172A"/>
                    </a:solidFill>
                  </a:tcPr>
                </a:tc>
                <a:tc>
                  <a:txBody>
                    <a:bodyPr/>
                    <a:lstStyle/>
                    <a:p>
                      <a:pPr algn="l">
                        <a:defRPr sz="1050" b="1">
                          <a:solidFill>
                            <a:srgbClr val="38BDF8"/>
                          </a:solidFill>
                          <a:latin typeface="Segoe UI"/>
                        </a:defRPr>
                      </a:pPr>
                      <a:r>
                        <a:t>Assigned Architecture Domain &amp; Ownership</a:t>
                      </a:r>
                    </a:p>
                  </a:txBody>
                  <a:tcPr>
                    <a:solidFill>
                      <a:srgbClr val="0F172A"/>
                    </a:solidFill>
                  </a:tcPr>
                </a:tc>
                <a:tc>
                  <a:txBody>
                    <a:bodyPr/>
                    <a:lstStyle/>
                    <a:p>
                      <a:pPr algn="l">
                        <a:defRPr sz="1050" b="1">
                          <a:solidFill>
                            <a:srgbClr val="38BDF8"/>
                          </a:solidFill>
                          <a:latin typeface="Segoe UI"/>
                        </a:defRPr>
                      </a:pPr>
                      <a:r>
                        <a:t>Official Email ID</a:t>
                      </a:r>
                    </a:p>
                  </a:txBody>
                  <a:tcPr>
                    <a:solidFill>
                      <a:srgbClr val="0F172A"/>
                    </a:solidFill>
                  </a:tcPr>
                </a:tc>
              </a:tr>
              <a:tr h="585216">
                <a:tc>
                  <a:txBody>
                    <a:bodyPr/>
                    <a:lstStyle/>
                    <a:p>
                      <a:pPr algn="ctr">
                        <a:defRPr sz="950" b="1">
                          <a:solidFill>
                            <a:srgbClr val="FBBF24"/>
                          </a:solidFill>
                          <a:latin typeface="Segoe UI"/>
                        </a:defRPr>
                      </a:pPr>
                      <a:r>
                        <a:t>23</a:t>
                      </a:r>
                    </a:p>
                  </a:txBody>
                  <a:tcPr>
                    <a:solidFill>
                      <a:srgbClr val="172541"/>
                    </a:solidFill>
                  </a:tcPr>
                </a:tc>
                <a:tc>
                  <a:txBody>
                    <a:bodyPr/>
                    <a:lstStyle/>
                    <a:p>
                      <a:pPr algn="ctr">
                        <a:defRPr sz="950">
                          <a:solidFill>
                            <a:srgbClr val="FFFFFF"/>
                          </a:solidFill>
                          <a:latin typeface="Segoe UI"/>
                        </a:defRPr>
                      </a:pPr>
                      <a:r>
                        <a:t>1241336</a:t>
                      </a:r>
                    </a:p>
                  </a:txBody>
                  <a:tcPr>
                    <a:solidFill>
                      <a:srgbClr val="172541"/>
                    </a:solidFill>
                  </a:tcPr>
                </a:tc>
                <a:tc>
                  <a:txBody>
                    <a:bodyPr/>
                    <a:lstStyle/>
                    <a:p>
                      <a:pPr>
                        <a:defRPr sz="950" b="1">
                          <a:solidFill>
                            <a:srgbClr val="FFFFFF"/>
                          </a:solidFill>
                          <a:latin typeface="Segoe UI"/>
                        </a:defRPr>
                      </a:pPr>
                      <a:r>
                        <a:t>Shaunak Kulkarni</a:t>
                      </a:r>
                    </a:p>
                  </a:txBody>
                  <a:tcPr>
                    <a:solidFill>
                      <a:srgbClr val="172541"/>
                    </a:solidFill>
                  </a:tcPr>
                </a:tc>
                <a:tc>
                  <a:txBody>
                    <a:bodyPr/>
                    <a:lstStyle/>
                    <a:p>
                      <a:pPr>
                        <a:defRPr sz="950">
                          <a:solidFill>
                            <a:srgbClr val="FFFFFF"/>
                          </a:solidFill>
                          <a:latin typeface="Segoe UI"/>
                        </a:defRPr>
                      </a:pPr>
                      <a:r>
                        <a:t>Kernel Telemetry Pipeline, 350ms Async WebSocket Engine, SQLite Time-Series Persistence &amp; Storage Volume Explorer</a:t>
                      </a:r>
                    </a:p>
                  </a:txBody>
                  <a:tcPr>
                    <a:solidFill>
                      <a:srgbClr val="172541"/>
                    </a:solidFill>
                  </a:tcPr>
                </a:tc>
                <a:tc>
                  <a:txBody>
                    <a:bodyPr/>
                    <a:lstStyle/>
                    <a:p>
                      <a:pPr>
                        <a:defRPr sz="950">
                          <a:solidFill>
                            <a:srgbClr val="38BDF8"/>
                          </a:solidFill>
                          <a:latin typeface="Segoe UI"/>
                        </a:defRPr>
                      </a:pPr>
                      <a:r>
                        <a:t>shaunak.kulkarni24@vit.edu</a:t>
                      </a:r>
                    </a:p>
                  </a:txBody>
                  <a:tcPr>
                    <a:solidFill>
                      <a:srgbClr val="172541"/>
                    </a:solidFill>
                  </a:tcPr>
                </a:tc>
              </a:tr>
              <a:tr h="585216">
                <a:tc>
                  <a:txBody>
                    <a:bodyPr/>
                    <a:lstStyle/>
                    <a:p>
                      <a:pPr algn="ctr">
                        <a:defRPr sz="950" b="1">
                          <a:solidFill>
                            <a:srgbClr val="FBBF24"/>
                          </a:solidFill>
                          <a:latin typeface="Segoe UI"/>
                        </a:defRPr>
                      </a:pPr>
                      <a:r>
                        <a:t>04</a:t>
                      </a:r>
                    </a:p>
                  </a:txBody>
                  <a:tcPr>
                    <a:solidFill>
                      <a:srgbClr val="121E34"/>
                    </a:solidFill>
                  </a:tcPr>
                </a:tc>
                <a:tc>
                  <a:txBody>
                    <a:bodyPr/>
                    <a:lstStyle/>
                    <a:p>
                      <a:pPr algn="ctr">
                        <a:defRPr sz="950">
                          <a:solidFill>
                            <a:srgbClr val="FFFFFF"/>
                          </a:solidFill>
                          <a:latin typeface="Segoe UI"/>
                        </a:defRPr>
                      </a:pPr>
                      <a:r>
                        <a:t>12411744</a:t>
                      </a:r>
                    </a:p>
                  </a:txBody>
                  <a:tcPr>
                    <a:solidFill>
                      <a:srgbClr val="121E34"/>
                    </a:solidFill>
                  </a:tcPr>
                </a:tc>
                <a:tc>
                  <a:txBody>
                    <a:bodyPr/>
                    <a:lstStyle/>
                    <a:p>
                      <a:pPr>
                        <a:defRPr sz="950" b="1">
                          <a:solidFill>
                            <a:srgbClr val="FFFFFF"/>
                          </a:solidFill>
                          <a:latin typeface="Segoe UI"/>
                        </a:defRPr>
                      </a:pPr>
                      <a:r>
                        <a:t>Jatin Jogale</a:t>
                      </a:r>
                    </a:p>
                  </a:txBody>
                  <a:tcPr>
                    <a:solidFill>
                      <a:srgbClr val="121E34"/>
                    </a:solidFill>
                  </a:tcPr>
                </a:tc>
                <a:tc>
                  <a:txBody>
                    <a:bodyPr/>
                    <a:lstStyle/>
                    <a:p>
                      <a:pPr>
                        <a:defRPr sz="950">
                          <a:solidFill>
                            <a:srgbClr val="FFFFFF"/>
                          </a:solidFill>
                          <a:latin typeface="Segoe UI"/>
                        </a:defRPr>
                      </a:pPr>
                      <a:r>
                        <a:t>CPU Process Scheduling Suite (SRTF, FCFS, SJF, Priority, RR), Dynamic SVG Gantt Timeline &amp; Preemption Tracker</a:t>
                      </a:r>
                    </a:p>
                  </a:txBody>
                  <a:tcPr>
                    <a:solidFill>
                      <a:srgbClr val="121E34"/>
                    </a:solidFill>
                  </a:tcPr>
                </a:tc>
                <a:tc>
                  <a:txBody>
                    <a:bodyPr/>
                    <a:lstStyle/>
                    <a:p>
                      <a:pPr>
                        <a:defRPr sz="950">
                          <a:solidFill>
                            <a:srgbClr val="38BDF8"/>
                          </a:solidFill>
                          <a:latin typeface="Segoe UI"/>
                        </a:defRPr>
                      </a:pPr>
                      <a:r>
                        <a:t>jatin.jogale24@vit.edu</a:t>
                      </a:r>
                    </a:p>
                  </a:txBody>
                  <a:tcPr>
                    <a:solidFill>
                      <a:srgbClr val="121E34"/>
                    </a:solidFill>
                  </a:tcPr>
                </a:tc>
              </a:tr>
              <a:tr h="585216">
                <a:tc>
                  <a:txBody>
                    <a:bodyPr/>
                    <a:lstStyle/>
                    <a:p>
                      <a:pPr algn="ctr">
                        <a:defRPr sz="950" b="1">
                          <a:solidFill>
                            <a:srgbClr val="FBBF24"/>
                          </a:solidFill>
                          <a:latin typeface="Segoe UI"/>
                        </a:defRPr>
                      </a:pPr>
                      <a:r>
                        <a:t>43</a:t>
                      </a:r>
                    </a:p>
                  </a:txBody>
                  <a:tcPr>
                    <a:solidFill>
                      <a:srgbClr val="172541"/>
                    </a:solidFill>
                  </a:tcPr>
                </a:tc>
                <a:tc>
                  <a:txBody>
                    <a:bodyPr/>
                    <a:lstStyle/>
                    <a:p>
                      <a:pPr algn="ctr">
                        <a:defRPr sz="950">
                          <a:solidFill>
                            <a:srgbClr val="FFFFFF"/>
                          </a:solidFill>
                          <a:latin typeface="Segoe UI"/>
                        </a:defRPr>
                      </a:pPr>
                      <a:r>
                        <a:t>12411425</a:t>
                      </a:r>
                    </a:p>
                  </a:txBody>
                  <a:tcPr>
                    <a:solidFill>
                      <a:srgbClr val="172541"/>
                    </a:solidFill>
                  </a:tcPr>
                </a:tc>
                <a:tc>
                  <a:txBody>
                    <a:bodyPr/>
                    <a:lstStyle/>
                    <a:p>
                      <a:pPr>
                        <a:defRPr sz="950" b="1">
                          <a:solidFill>
                            <a:srgbClr val="FFFFFF"/>
                          </a:solidFill>
                          <a:latin typeface="Segoe UI"/>
                        </a:defRPr>
                      </a:pPr>
                      <a:r>
                        <a:t>Swanand More</a:t>
                      </a:r>
                    </a:p>
                  </a:txBody>
                  <a:tcPr>
                    <a:solidFill>
                      <a:srgbClr val="172541"/>
                    </a:solidFill>
                  </a:tcPr>
                </a:tc>
                <a:tc>
                  <a:txBody>
                    <a:bodyPr/>
                    <a:lstStyle/>
                    <a:p>
                      <a:pPr>
                        <a:defRPr sz="950">
                          <a:solidFill>
                            <a:srgbClr val="FFFFFF"/>
                          </a:solidFill>
                          <a:latin typeface="Segoe UI"/>
                        </a:defRPr>
                      </a:pPr>
                      <a:r>
                        <a:t>Contiguous Memory Dynamic Partitioning (First/Best/Worst Fit, Compaction) &amp; Virtual Paging Suite (Belady's Anomaly Proof)</a:t>
                      </a:r>
                    </a:p>
                  </a:txBody>
                  <a:tcPr>
                    <a:solidFill>
                      <a:srgbClr val="172541"/>
                    </a:solidFill>
                  </a:tcPr>
                </a:tc>
                <a:tc>
                  <a:txBody>
                    <a:bodyPr/>
                    <a:lstStyle/>
                    <a:p>
                      <a:pPr>
                        <a:defRPr sz="950">
                          <a:solidFill>
                            <a:srgbClr val="38BDF8"/>
                          </a:solidFill>
                          <a:latin typeface="Segoe UI"/>
                        </a:defRPr>
                      </a:pPr>
                      <a:r>
                        <a:t>swanand.more24@vit.edu</a:t>
                      </a:r>
                    </a:p>
                  </a:txBody>
                  <a:tcPr>
                    <a:solidFill>
                      <a:srgbClr val="172541"/>
                    </a:solidFill>
                  </a:tcPr>
                </a:tc>
              </a:tr>
              <a:tr h="585216">
                <a:tc>
                  <a:txBody>
                    <a:bodyPr/>
                    <a:lstStyle/>
                    <a:p>
                      <a:pPr algn="ctr">
                        <a:defRPr sz="950" b="1">
                          <a:solidFill>
                            <a:srgbClr val="FBBF24"/>
                          </a:solidFill>
                          <a:latin typeface="Segoe UI"/>
                        </a:defRPr>
                      </a:pPr>
                      <a:r>
                        <a:t>65</a:t>
                      </a:r>
                    </a:p>
                  </a:txBody>
                  <a:tcPr>
                    <a:solidFill>
                      <a:srgbClr val="121E34"/>
                    </a:solidFill>
                  </a:tcPr>
                </a:tc>
                <a:tc>
                  <a:txBody>
                    <a:bodyPr/>
                    <a:lstStyle/>
                    <a:p>
                      <a:pPr algn="ctr">
                        <a:defRPr sz="950">
                          <a:solidFill>
                            <a:srgbClr val="FFFFFF"/>
                          </a:solidFill>
                          <a:latin typeface="Segoe UI"/>
                        </a:defRPr>
                      </a:pPr>
                      <a:r>
                        <a:t>12415266</a:t>
                      </a:r>
                    </a:p>
                  </a:txBody>
                  <a:tcPr>
                    <a:solidFill>
                      <a:srgbClr val="121E34"/>
                    </a:solidFill>
                  </a:tcPr>
                </a:tc>
                <a:tc>
                  <a:txBody>
                    <a:bodyPr/>
                    <a:lstStyle/>
                    <a:p>
                      <a:pPr>
                        <a:defRPr sz="950" b="1">
                          <a:solidFill>
                            <a:srgbClr val="FFFFFF"/>
                          </a:solidFill>
                          <a:latin typeface="Segoe UI"/>
                        </a:defRPr>
                      </a:pPr>
                      <a:r>
                        <a:t>Trunal Pawar</a:t>
                      </a:r>
                    </a:p>
                  </a:txBody>
                  <a:tcPr>
                    <a:solidFill>
                      <a:srgbClr val="121E34"/>
                    </a:solidFill>
                  </a:tcPr>
                </a:tc>
                <a:tc>
                  <a:txBody>
                    <a:bodyPr/>
                    <a:lstStyle/>
                    <a:p>
                      <a:pPr>
                        <a:defRPr sz="950">
                          <a:solidFill>
                            <a:srgbClr val="FFFFFF"/>
                          </a:solidFill>
                          <a:latin typeface="Segoe UI"/>
                        </a:defRPr>
                      </a:pPr>
                      <a:r>
                        <a:t>Secondary Storage Disk Arm Trajectory (SCAN, SSTF, LOOK), Deadlock Banker's Avoidance, Dynamic RAG &amp; Web Shell</a:t>
                      </a:r>
                    </a:p>
                  </a:txBody>
                  <a:tcPr>
                    <a:solidFill>
                      <a:srgbClr val="121E34"/>
                    </a:solidFill>
                  </a:tcPr>
                </a:tc>
                <a:tc>
                  <a:txBody>
                    <a:bodyPr/>
                    <a:lstStyle/>
                    <a:p>
                      <a:pPr>
                        <a:defRPr sz="950">
                          <a:solidFill>
                            <a:srgbClr val="38BDF8"/>
                          </a:solidFill>
                          <a:latin typeface="Segoe UI"/>
                        </a:defRPr>
                      </a:pPr>
                      <a:r>
                        <a:t>trunal.pawar24@vit.edu</a:t>
                      </a:r>
                    </a:p>
                  </a:txBody>
                  <a:tcPr>
                    <a:solidFill>
                      <a:srgbClr val="121E34"/>
                    </a:solidFill>
                  </a:tcPr>
                </a:tc>
              </a:tr>
            </a:tbl>
          </a:graphicData>
        </a:graphic>
      </p:graphicFrame>
      <p:sp>
        <p:nvSpPr>
          <p:cNvPr id="6" name="Rounded Rectangle 5"/>
          <p:cNvSpPr/>
          <p:nvPr/>
        </p:nvSpPr>
        <p:spPr>
          <a:xfrm>
            <a:off x="731520" y="4846320"/>
            <a:ext cx="2499055" cy="13716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38BDF8"/>
                </a:solidFill>
                <a:latin typeface="Segoe UI"/>
              </a:defRPr>
            </a:pPr>
            <a:r>
              <a:t>Pages 2 &amp; 3</a:t>
            </a:r>
          </a:p>
          <a:p>
            <a:pPr>
              <a:defRPr sz="1100" b="1">
                <a:solidFill>
                  <a:srgbClr val="FFFFFF"/>
                </a:solidFill>
                <a:latin typeface="Segoe UI"/>
              </a:defRPr>
            </a:pPr>
            <a:r>
              <a:t>Member 1 (Shaunak)</a:t>
            </a:r>
          </a:p>
          <a:p>
            <a:pPr>
              <a:defRPr sz="900">
                <a:solidFill>
                  <a:srgbClr val="94A3B8"/>
                </a:solidFill>
                <a:latin typeface="Segoe UI"/>
              </a:defRPr>
            </a:pPr>
            <a:r>
              <a:t>Telemetry, Async WS &amp; SQLite</a:t>
            </a:r>
          </a:p>
        </p:txBody>
      </p:sp>
      <p:sp>
        <p:nvSpPr>
          <p:cNvPr id="7" name="Rounded Rectangle 6"/>
          <p:cNvSpPr/>
          <p:nvPr/>
        </p:nvSpPr>
        <p:spPr>
          <a:xfrm>
            <a:off x="3474720" y="4846320"/>
            <a:ext cx="2499055" cy="13716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818CF8"/>
                </a:solidFill>
                <a:latin typeface="Segoe UI"/>
              </a:defRPr>
            </a:pPr>
            <a:r>
              <a:t>Pages 4 &amp; 5</a:t>
            </a:r>
          </a:p>
          <a:p>
            <a:pPr>
              <a:defRPr sz="1100" b="1">
                <a:solidFill>
                  <a:srgbClr val="FFFFFF"/>
                </a:solidFill>
                <a:latin typeface="Segoe UI"/>
              </a:defRPr>
            </a:pPr>
            <a:r>
              <a:t>Member 2 (Jatin)</a:t>
            </a:r>
          </a:p>
          <a:p>
            <a:pPr>
              <a:defRPr sz="900">
                <a:solidFill>
                  <a:srgbClr val="94A3B8"/>
                </a:solidFill>
                <a:latin typeface="Segoe UI"/>
              </a:defRPr>
            </a:pPr>
            <a:r>
              <a:t>CPU Scheduling &amp; Gantt Timeline</a:t>
            </a:r>
          </a:p>
        </p:txBody>
      </p:sp>
      <p:sp>
        <p:nvSpPr>
          <p:cNvPr id="8" name="Rounded Rectangle 7"/>
          <p:cNvSpPr/>
          <p:nvPr/>
        </p:nvSpPr>
        <p:spPr>
          <a:xfrm>
            <a:off x="6217920" y="4846320"/>
            <a:ext cx="2499055" cy="13716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10B981"/>
                </a:solidFill>
                <a:latin typeface="Segoe UI"/>
              </a:defRPr>
            </a:pPr>
            <a:r>
              <a:t>Pages 6 &amp; 7</a:t>
            </a:r>
          </a:p>
          <a:p>
            <a:pPr>
              <a:defRPr sz="1100" b="1">
                <a:solidFill>
                  <a:srgbClr val="FFFFFF"/>
                </a:solidFill>
                <a:latin typeface="Segoe UI"/>
              </a:defRPr>
            </a:pPr>
            <a:r>
              <a:t>Member 3 (Swanand)</a:t>
            </a:r>
          </a:p>
          <a:p>
            <a:pPr>
              <a:defRPr sz="900">
                <a:solidFill>
                  <a:srgbClr val="94A3B8"/>
                </a:solidFill>
                <a:latin typeface="Segoe UI"/>
              </a:defRPr>
            </a:pPr>
            <a:r>
              <a:t>Memory Allocation &amp; Page Faults</a:t>
            </a:r>
          </a:p>
        </p:txBody>
      </p:sp>
      <p:sp>
        <p:nvSpPr>
          <p:cNvPr id="9" name="Rounded Rectangle 8"/>
          <p:cNvSpPr/>
          <p:nvPr/>
        </p:nvSpPr>
        <p:spPr>
          <a:xfrm>
            <a:off x="8961120" y="4846320"/>
            <a:ext cx="2499055" cy="13716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F59E0B"/>
                </a:solidFill>
                <a:latin typeface="Segoe UI"/>
              </a:defRPr>
            </a:pPr>
            <a:r>
              <a:t>Pages 8 &amp; 9</a:t>
            </a:r>
          </a:p>
          <a:p>
            <a:pPr>
              <a:defRPr sz="1100" b="1">
                <a:solidFill>
                  <a:srgbClr val="FFFFFF"/>
                </a:solidFill>
                <a:latin typeface="Segoe UI"/>
              </a:defRPr>
            </a:pPr>
            <a:r>
              <a:t>Member 4 (Trunal)</a:t>
            </a:r>
          </a:p>
          <a:p>
            <a:pPr>
              <a:defRPr sz="900">
                <a:solidFill>
                  <a:srgbClr val="94A3B8"/>
                </a:solidFill>
                <a:latin typeface="Segoe UI"/>
              </a:defRPr>
            </a:pPr>
            <a:r>
              <a:t>Disk Arm, Banker's &amp; Web Shell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PROBLEM STATEMENT &amp; MOTIVATION</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The Pedagogical Disconnect in Operating Systems Instruction</a:t>
            </a:r>
          </a:p>
          <a:p>
            <a:pPr>
              <a:defRPr sz="1100">
                <a:solidFill>
                  <a:srgbClr val="94A3B8"/>
                </a:solidFill>
                <a:latin typeface="Segoe UI"/>
              </a:defRPr>
            </a:pPr>
            <a:r>
              <a:t>Bridging theoretical textbook mathematical models with live production kernel telemetry</a:t>
            </a:r>
          </a:p>
        </p:txBody>
      </p:sp>
      <p:sp>
        <p:nvSpPr>
          <p:cNvPr id="5" name="Rounded Rectangle 4"/>
          <p:cNvSpPr/>
          <p:nvPr/>
        </p:nvSpPr>
        <p:spPr>
          <a:xfrm>
            <a:off x="731520" y="1645920"/>
            <a:ext cx="512064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82880" rIns="182880"/>
          <a:lstStyle/>
          <a:p>
            <a:pPr algn="l">
              <a:defRPr sz="1300" b="1">
                <a:solidFill>
                  <a:srgbClr val="F43F5E"/>
                </a:solidFill>
                <a:latin typeface="Segoe UI"/>
              </a:defRPr>
            </a:pPr>
            <a:r>
              <a:t>THE PEDAGOGICAL DISCONNECT</a:t>
            </a:r>
          </a:p>
          <a:p>
            <a:pPr>
              <a:spcAft>
                <a:spcPts val="600"/>
              </a:spcAft>
            </a:pPr>
            <a:r>
              <a:rPr sz="1050" b="1">
                <a:solidFill>
                  <a:srgbClr val="FFFFFF"/>
                </a:solidFill>
                <a:latin typeface="Segoe UI"/>
              </a:rPr>
              <a:t>▪ Abstract Mathematical Models  -  </a:t>
            </a:r>
            <a:r>
              <a:rPr sz="1000">
                <a:solidFill>
                  <a:srgbClr val="94A3B8"/>
                </a:solidFill>
                <a:latin typeface="Segoe UI"/>
              </a:rPr>
              <a:t>Students study CPU scheduling, page faults, and disk seeks purely through static pen-and-paper exercises devoid of physical OS context.</a:t>
            </a:r>
          </a:p>
          <a:p>
            <a:pPr>
              <a:spcAft>
                <a:spcPts val="600"/>
              </a:spcAft>
            </a:pPr>
            <a:r>
              <a:rPr sz="1050" b="1">
                <a:solidFill>
                  <a:srgbClr val="FFFFFF"/>
                </a:solidFill>
                <a:latin typeface="Segoe UI"/>
              </a:rPr>
              <a:t>▪ Complex Enterprise Monitoring  -  </a:t>
            </a:r>
            <a:r>
              <a:rPr sz="1000">
                <a:solidFill>
                  <a:srgbClr val="94A3B8"/>
                </a:solidFill>
                <a:latin typeface="Segoe UI"/>
              </a:rPr>
              <a:t>Production monitoring tools (Grafana, Datadog, Prometheus) are monolithic, closed-loop, and lack interactive algorithm parameter manipulation.</a:t>
            </a:r>
          </a:p>
          <a:p>
            <a:pPr>
              <a:spcAft>
                <a:spcPts val="600"/>
              </a:spcAft>
            </a:pPr>
            <a:r>
              <a:rPr sz="1050" b="1">
                <a:solidFill>
                  <a:srgbClr val="FFFFFF"/>
                </a:solidFill>
                <a:latin typeface="Segoe UI"/>
              </a:rPr>
              <a:t>▪ Lack of Anomaly Visualization  -  </a:t>
            </a:r>
            <a:r>
              <a:rPr sz="1000">
                <a:solidFill>
                  <a:srgbClr val="94A3B8"/>
                </a:solidFill>
                <a:latin typeface="Segoe UI"/>
              </a:rPr>
              <a:t>Classical edge cases (Belady's Anomaly in FIFO, disk starvation in SSTF, circular wait in deadlocks) are difficult to comprehend without step-by-step state visualization.</a:t>
            </a:r>
          </a:p>
          <a:p>
            <a:pPr>
              <a:spcAft>
                <a:spcPts val="600"/>
              </a:spcAft>
            </a:pPr>
            <a:r>
              <a:rPr sz="1050" b="1">
                <a:solidFill>
                  <a:srgbClr val="FFFFFF"/>
                </a:solidFill>
                <a:latin typeface="Segoe UI"/>
              </a:rPr>
              <a:t>▪ High Polling Latency  -  </a:t>
            </a:r>
            <a:r>
              <a:rPr sz="1000">
                <a:solidFill>
                  <a:srgbClr val="94A3B8"/>
                </a:solidFill>
                <a:latin typeface="Segoe UI"/>
              </a:rPr>
              <a:t>Standard OS utilities query at 1.0–5.0s cadences, failing to capture micro-spikes, thread contention, and transient preemption switches.</a:t>
            </a:r>
          </a:p>
        </p:txBody>
      </p:sp>
      <p:sp>
        <p:nvSpPr>
          <p:cNvPr id="6" name="Rounded Rectangle 5"/>
          <p:cNvSpPr/>
          <p:nvPr/>
        </p:nvSpPr>
        <p:spPr>
          <a:xfrm>
            <a:off x="6126480" y="1645920"/>
            <a:ext cx="530352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82880" rIns="182880"/>
          <a:lstStyle/>
          <a:p>
            <a:pPr algn="l">
              <a:defRPr sz="1300" b="1">
                <a:solidFill>
                  <a:srgbClr val="10B981"/>
                </a:solidFill>
                <a:latin typeface="Segoe UI"/>
              </a:defRPr>
            </a:pPr>
            <a:r>
              <a:t>PROPOSED SOLUTION &amp; ARCHITECTURAL SCOPE</a:t>
            </a:r>
          </a:p>
          <a:p>
            <a:pPr>
              <a:spcAft>
                <a:spcPts val="600"/>
              </a:spcAft>
            </a:pPr>
            <a:r>
              <a:rPr sz="1050" b="1">
                <a:solidFill>
                  <a:srgbClr val="FFFFFF"/>
                </a:solidFill>
                <a:latin typeface="Segoe UI"/>
              </a:rPr>
              <a:t>▪ Sub-Second 350ms Polling Daemon  -  </a:t>
            </a:r>
            <a:r>
              <a:rPr sz="1000">
                <a:solidFill>
                  <a:srgbClr val="94A3B8"/>
                </a:solidFill>
                <a:latin typeface="Segoe UI"/>
              </a:rPr>
              <a:t>High-frequency non-blocking psutil kernel sampler with zero-mock physical hardware fidelity and &lt;1.8% CPU overhead.</a:t>
            </a:r>
          </a:p>
          <a:p>
            <a:pPr>
              <a:spcAft>
                <a:spcPts val="600"/>
              </a:spcAft>
            </a:pPr>
            <a:r>
              <a:rPr sz="1050" b="1">
                <a:solidFill>
                  <a:srgbClr val="FFFFFF"/>
                </a:solidFill>
                <a:latin typeface="Segoe UI"/>
              </a:rPr>
              <a:t>▪ Asynchronous Persistent WebSocket  -  </a:t>
            </a:r>
            <a:r>
              <a:rPr sz="1000">
                <a:solidFill>
                  <a:srgbClr val="94A3B8"/>
                </a:solidFill>
                <a:latin typeface="Segoe UI"/>
              </a:rPr>
              <a:t>FastAPI /ws broadcast pipeline delivering 14 diagnostic parameters with &lt;8ms transmission latency to 60 FPS HTML5 canvases.</a:t>
            </a:r>
          </a:p>
          <a:p>
            <a:pPr>
              <a:spcAft>
                <a:spcPts val="600"/>
              </a:spcAft>
            </a:pPr>
            <a:r>
              <a:rPr sz="1050" b="1">
                <a:solidFill>
                  <a:srgbClr val="FFFFFF"/>
                </a:solidFill>
                <a:latin typeface="Segoe UI"/>
              </a:rPr>
              <a:t>▪ 7 Interactive Algorithmic Laboratories  -  </a:t>
            </a:r>
            <a:r>
              <a:rPr sz="1000">
                <a:solidFill>
                  <a:srgbClr val="94A3B8"/>
                </a:solidFill>
                <a:latin typeface="Segoe UI"/>
              </a:rPr>
              <a:t>Zero-latency discrete-event simulators for CPU Scheduling, Dynamic Partitioning, Page Replacement, Disk Trajectory, and Banker's Deadlock.</a:t>
            </a:r>
          </a:p>
          <a:p>
            <a:pPr>
              <a:spcAft>
                <a:spcPts val="600"/>
              </a:spcAft>
            </a:pPr>
            <a:r>
              <a:rPr sz="1050" b="1">
                <a:solidFill>
                  <a:srgbClr val="FFFFFF"/>
                </a:solidFill>
                <a:latin typeface="Segoe UI"/>
              </a:rPr>
              <a:t>▪ Embedded Host Shell &amp; Health Engine  -  </a:t>
            </a:r>
            <a:r>
              <a:rPr sz="1000">
                <a:solidFill>
                  <a:srgbClr val="94A3B8"/>
                </a:solidFill>
                <a:latin typeface="Segoe UI"/>
              </a:rPr>
              <a:t>Interactive terminal execution daemon with 15s subprocess watchdog and real-time 0–100% Heuristic Health Indexing.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SYSTEM DESIGN &amp; METHODOLOGY</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Full-Stack MVC Architecture &amp; Asynchronous Event Loop Pipeline</a:t>
            </a:r>
          </a:p>
          <a:p>
            <a:pPr>
              <a:defRPr sz="1100">
                <a:solidFill>
                  <a:srgbClr val="94A3B8"/>
                </a:solidFill>
                <a:latin typeface="Segoe UI"/>
              </a:defRPr>
            </a:pPr>
            <a:r>
              <a:t>Unified integration of hardware telemetry, algorithmic solvers, and sandboxed terminal execution</a:t>
            </a:r>
          </a:p>
        </p:txBody>
      </p:sp>
      <p:pic>
        <p:nvPicPr>
          <p:cNvPr id="5" name="Picture 4" descr="system_architecture_diagram.png"/>
          <p:cNvPicPr>
            <a:picLocks noChangeAspect="1"/>
          </p:cNvPicPr>
          <p:nvPr/>
        </p:nvPicPr>
        <p:blipFill>
          <a:blip r:embed="rId2"/>
          <a:stretch>
            <a:fillRect/>
          </a:stretch>
        </p:blipFill>
        <p:spPr>
          <a:xfrm>
            <a:off x="731520" y="1645920"/>
            <a:ext cx="5486400" cy="4572000"/>
          </a:xfrm>
          <a:prstGeom prst="rect">
            <a:avLst/>
          </a:prstGeom>
        </p:spPr>
      </p:pic>
      <p:sp>
        <p:nvSpPr>
          <p:cNvPr id="6" name="Rounded Rectangle 5"/>
          <p:cNvSpPr/>
          <p:nvPr/>
        </p:nvSpPr>
        <p:spPr>
          <a:xfrm>
            <a:off x="6492240" y="1645920"/>
            <a:ext cx="493776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82880" rIns="182880"/>
          <a:lstStyle/>
          <a:p>
            <a:pPr algn="l">
              <a:defRPr sz="1300" b="1">
                <a:solidFill>
                  <a:srgbClr val="38BDF8"/>
                </a:solidFill>
                <a:latin typeface="Segoe UI"/>
              </a:defRPr>
            </a:pPr>
            <a:r>
              <a:t>4-TIER MULTI-LAYER ARCHITECTURAL HIGHLIGHTS</a:t>
            </a:r>
          </a:p>
          <a:p>
            <a:pPr>
              <a:spcAft>
                <a:spcPts val="600"/>
              </a:spcAft>
            </a:pPr>
            <a:r>
              <a:rPr sz="1050" b="1">
                <a:solidFill>
                  <a:srgbClr val="FFFFFF"/>
                </a:solidFill>
                <a:latin typeface="Segoe UI"/>
              </a:rPr>
              <a:t>▪ Tier 1: Presentation &amp; Visualization  -  </a:t>
            </a:r>
            <a:r>
              <a:rPr sz="1000">
                <a:solidFill>
                  <a:srgbClr val="94A3B8"/>
                </a:solidFill>
                <a:latin typeface="Segoe UI"/>
              </a:rPr>
              <a:t>HTML5 Canvas 60 FPS streaming charts, SVG dynamic timelines, responsive CSS Grid layout, and zero-latency client-side discrete event engines.</a:t>
            </a:r>
          </a:p>
          <a:p>
            <a:pPr>
              <a:spcAft>
                <a:spcPts val="600"/>
              </a:spcAft>
            </a:pPr>
            <a:r>
              <a:rPr sz="1050" b="1">
                <a:solidFill>
                  <a:srgbClr val="FFFFFF"/>
                </a:solidFill>
                <a:latin typeface="Segoe UI"/>
              </a:rPr>
              <a:t>▪ Tier 2: Async Application Controllers  -  </a:t>
            </a:r>
            <a:r>
              <a:rPr sz="1000">
                <a:solidFill>
                  <a:srgbClr val="94A3B8"/>
                </a:solidFill>
                <a:latin typeface="Segoe UI"/>
              </a:rPr>
              <a:t>FastAPI ASGI server running on Uvicorn, persistent /ws bidirectional WebSocket broadcaster, and REST endpoint controllers (/api/metrics, /api/fs, /api/history).</a:t>
            </a:r>
          </a:p>
          <a:p>
            <a:pPr>
              <a:spcAft>
                <a:spcPts val="600"/>
              </a:spcAft>
            </a:pPr>
            <a:r>
              <a:rPr sz="1050" b="1">
                <a:solidFill>
                  <a:srgbClr val="FFFFFF"/>
                </a:solidFill>
                <a:latin typeface="Segoe UI"/>
              </a:rPr>
              <a:t>▪ Tier 3: Kernel Telemetry &amp; Sampling Daemon  -  </a:t>
            </a:r>
            <a:r>
              <a:rPr sz="1000">
                <a:solidFill>
                  <a:srgbClr val="94A3B8"/>
                </a:solidFill>
                <a:latin typeface="Segoe UI"/>
              </a:rPr>
              <a:t>C-bindings via psutil sampling hardware counters every 350ms across multi-core CPU, RAM pages, swap, persistent disk I/O, and NIC throughput.</a:t>
            </a:r>
          </a:p>
          <a:p>
            <a:pPr>
              <a:spcAft>
                <a:spcPts val="600"/>
              </a:spcAft>
            </a:pPr>
            <a:r>
              <a:rPr sz="1050" b="1">
                <a:solidFill>
                  <a:srgbClr val="FFFFFF"/>
                </a:solidFill>
                <a:latin typeface="Segoe UI"/>
              </a:rPr>
              <a:t>▪ Tier 4: Time-Series SQLite Persistence  -  </a:t>
            </a:r>
            <a:r>
              <a:rPr sz="1000">
                <a:solidFill>
                  <a:srgbClr val="94A3B8"/>
                </a:solidFill>
                <a:latin typeface="Segoe UI"/>
              </a:rPr>
              <a:t>High-throughput SQLite configured in Write-Ahead Logging (WAL mode), 5-second aggregated commits, and automated 10,000-sample circular retention (&lt;50MB).</a:t>
            </a:r>
          </a:p>
          <a:p>
            <a:pPr>
              <a:spcAft>
                <a:spcPts val="600"/>
              </a:spcAft>
            </a:pPr>
            <a:r>
              <a:rPr sz="1050" b="1">
                <a:solidFill>
                  <a:srgbClr val="FFFFFF"/>
                </a:solidFill>
                <a:latin typeface="Segoe UI"/>
              </a:rPr>
              <a:t>▪ Sandboxed Subprocess Execution  -  </a:t>
            </a:r>
            <a:r>
              <a:rPr sz="1000">
                <a:solidFill>
                  <a:srgbClr val="94A3B8"/>
                </a:solidFill>
                <a:latin typeface="Segoe UI"/>
              </a:rPr>
              <a:t>Asynchronous terminal runner executing native PowerShell commands with working directory tracking and 15.0s watchdog kill timeout.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1: SHAUNAK KULKARNI (ROLL NO: 23)  -  PAGE 2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Kernel Telemetry Pipeline, Multi-Core Processing &amp; Mathematical Modeling</a:t>
            </a:r>
          </a:p>
          <a:p>
            <a:pPr>
              <a:defRPr sz="1100">
                <a:solidFill>
                  <a:srgbClr val="94A3B8"/>
                </a:solidFill>
                <a:latin typeface="Segoe UI"/>
              </a:defRPr>
            </a:pPr>
            <a:r>
              <a:t>Ownership: Zero-mock C-bindings sampling engine, sub-second polling daemon, and processor utilization derivations</a:t>
            </a:r>
          </a:p>
        </p:txBody>
      </p:sp>
      <p:sp>
        <p:nvSpPr>
          <p:cNvPr id="5" name="Rounded Rectangle 4"/>
          <p:cNvSpPr/>
          <p:nvPr/>
        </p:nvSpPr>
        <p:spPr>
          <a:xfrm>
            <a:off x="731520" y="1645920"/>
            <a:ext cx="338328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38BDF8"/>
                </a:solidFill>
                <a:latin typeface="Segoe UI"/>
              </a:defRPr>
            </a:pPr>
            <a:r>
              <a:t>HARDWARE SAMPLING DAEMON</a:t>
            </a:r>
          </a:p>
          <a:p>
            <a:pPr>
              <a:spcAft>
                <a:spcPts val="600"/>
              </a:spcAft>
            </a:pPr>
            <a:r>
              <a:rPr sz="1050" b="1">
                <a:solidFill>
                  <a:srgbClr val="FFFFFF"/>
                </a:solidFill>
                <a:latin typeface="Segoe UI"/>
              </a:rPr>
              <a:t>▪ Sub-Second Cadence  -  </a:t>
            </a:r>
            <a:r>
              <a:rPr sz="1000">
                <a:solidFill>
                  <a:srgbClr val="94A3B8"/>
                </a:solidFill>
                <a:latin typeface="Segoe UI"/>
              </a:rPr>
              <a:t>Polls at 350 ms (0.35s) to eliminate the blind spot of traditional 5-second monitoring tools.</a:t>
            </a:r>
          </a:p>
          <a:p>
            <a:pPr>
              <a:spcAft>
                <a:spcPts val="600"/>
              </a:spcAft>
            </a:pPr>
            <a:r>
              <a:rPr sz="1050" b="1">
                <a:solidFill>
                  <a:srgbClr val="FFFFFF"/>
                </a:solidFill>
                <a:latin typeface="Segoe UI"/>
              </a:rPr>
              <a:t>▪ Multi-Core CPU  -  </a:t>
            </a:r>
            <a:r>
              <a:rPr sz="1000">
                <a:solidFill>
                  <a:srgbClr val="94A3B8"/>
                </a:solidFill>
                <a:latin typeface="Segoe UI"/>
              </a:rPr>
              <a:t>Harvesters user, system, idle, and irq ticks across all logical processor cores.</a:t>
            </a:r>
          </a:p>
          <a:p>
            <a:pPr>
              <a:spcAft>
                <a:spcPts val="600"/>
              </a:spcAft>
            </a:pPr>
            <a:r>
              <a:rPr sz="1050" b="1">
                <a:solidFill>
                  <a:srgbClr val="FFFFFF"/>
                </a:solidFill>
                <a:latin typeface="Segoe UI"/>
              </a:rPr>
              <a:t>▪ Physical RAM &amp; Swap  -  </a:t>
            </a:r>
            <a:r>
              <a:rPr sz="1000">
                <a:solidFill>
                  <a:srgbClr val="94A3B8"/>
                </a:solidFill>
                <a:latin typeface="Segoe UI"/>
              </a:rPr>
              <a:t>Monitors active/inactive pages, cached buffers, and swap allocations with byte precision.</a:t>
            </a:r>
          </a:p>
          <a:p>
            <a:pPr>
              <a:spcAft>
                <a:spcPts val="600"/>
              </a:spcAft>
            </a:pPr>
            <a:r>
              <a:rPr sz="1050" b="1">
                <a:solidFill>
                  <a:srgbClr val="FFFFFF"/>
                </a:solidFill>
                <a:latin typeface="Segoe UI"/>
              </a:rPr>
              <a:t>▪ Persistent Disk I/O  -  </a:t>
            </a:r>
            <a:r>
              <a:rPr sz="1000">
                <a:solidFill>
                  <a:srgbClr val="94A3B8"/>
                </a:solidFill>
                <a:latin typeface="Segoe UI"/>
              </a:rPr>
              <a:t>Calculates instantaneous transfer rates (KB/s, MB/s) and read/write queue depths.</a:t>
            </a:r>
          </a:p>
          <a:p>
            <a:pPr>
              <a:spcAft>
                <a:spcPts val="600"/>
              </a:spcAft>
            </a:pPr>
            <a:r>
              <a:rPr sz="1050" b="1">
                <a:solidFill>
                  <a:srgbClr val="FFFFFF"/>
                </a:solidFill>
                <a:latin typeface="Segoe UI"/>
              </a:rPr>
              <a:t>▪ Network NIC Bandwidth  -  </a:t>
            </a:r>
            <a:r>
              <a:rPr sz="1000">
                <a:solidFill>
                  <a:srgbClr val="94A3B8"/>
                </a:solidFill>
                <a:latin typeface="Segoe UI"/>
              </a:rPr>
              <a:t>Tracks cumulative byte transfer and packet rates (RX/TX) across active interfaces.</a:t>
            </a:r>
          </a:p>
        </p:txBody>
      </p:sp>
      <p:sp>
        <p:nvSpPr>
          <p:cNvPr id="6" name="Rounded Rectangle 5"/>
          <p:cNvSpPr/>
          <p:nvPr/>
        </p:nvSpPr>
        <p:spPr>
          <a:xfrm>
            <a:off x="4389120" y="1645920"/>
            <a:ext cx="347472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818CF8"/>
                </a:solidFill>
                <a:latin typeface="Segoe UI"/>
              </a:defRPr>
            </a:pPr>
            <a:r>
              <a:t>MATHEMATICAL FORMULATIONS</a:t>
            </a:r>
          </a:p>
          <a:p>
            <a:pPr>
              <a:spcAft>
                <a:spcPts val="600"/>
              </a:spcAft>
            </a:pPr>
            <a:r>
              <a:rPr sz="1050" b="1">
                <a:solidFill>
                  <a:srgbClr val="FFFFFF"/>
                </a:solidFill>
                <a:latin typeface="Segoe UI"/>
              </a:rPr>
              <a:t>▪ Differential CPU Formula  -  </a:t>
            </a:r>
            <a:r>
              <a:rPr sz="1000">
                <a:solidFill>
                  <a:srgbClr val="94A3B8"/>
                </a:solidFill>
                <a:latin typeface="Segoe UI"/>
              </a:rPr>
              <a:t>Instantaneous CPU utilization between consecutive clock samples t1 and t2:</a:t>
            </a:r>
          </a:p>
          <a:p>
            <a:pPr>
              <a:spcAft>
                <a:spcPts val="800"/>
              </a:spcAft>
              <a:defRPr sz="950">
                <a:solidFill>
                  <a:srgbClr val="38BDF8"/>
                </a:solidFill>
                <a:latin typeface="Consolas"/>
              </a:defRPr>
            </a:pPr>
            <a:r>
              <a:t>CPU % = (1 - Δt_idle / Δt_total) × 100</a:t>
            </a:r>
            <a:br/>
            <a:r>
              <a:t>Δt_total = Δt_user + Δt_sys + Δt_idle + Δt_irq</a:t>
            </a:r>
          </a:p>
          <a:p>
            <a:pPr>
              <a:spcAft>
                <a:spcPts val="600"/>
              </a:spcAft>
            </a:pPr>
            <a:r>
              <a:rPr sz="1050" b="1">
                <a:solidFill>
                  <a:srgbClr val="FFFFFF"/>
                </a:solidFill>
                <a:latin typeface="Segoe UI"/>
              </a:rPr>
              <a:t>▪ Core Disparity Coefficient  -  </a:t>
            </a:r>
            <a:r>
              <a:rPr sz="1000">
                <a:solidFill>
                  <a:srgbClr val="94A3B8"/>
                </a:solidFill>
                <a:latin typeface="Segoe UI"/>
              </a:rPr>
              <a:t>Detects processor core imbalance and thread pinning anomalies across N cores:</a:t>
            </a:r>
          </a:p>
          <a:p>
            <a:pPr>
              <a:spcAft>
                <a:spcPts val="800"/>
              </a:spcAft>
              <a:defRPr sz="950">
                <a:solidFill>
                  <a:srgbClr val="FBBF24"/>
                </a:solidFill>
                <a:latin typeface="Consolas"/>
              </a:defRPr>
            </a:pPr>
            <a:r>
              <a:t>μ = (1/N) Σ U_k</a:t>
            </a:r>
            <a:br/>
            <a:r>
              <a:t>σ_core = √[ (1/N) Σ (U_k - μ)² ]</a:t>
            </a:r>
          </a:p>
          <a:p>
            <a:pPr>
              <a:spcAft>
                <a:spcPts val="600"/>
              </a:spcAft>
            </a:pPr>
            <a:r>
              <a:rPr sz="1050" b="1">
                <a:solidFill>
                  <a:srgbClr val="FFFFFF"/>
                </a:solidFill>
                <a:latin typeface="Segoe UI"/>
              </a:rPr>
              <a:t>▪ Non-Blocking Delta  -  </a:t>
            </a:r>
            <a:r>
              <a:rPr sz="1000">
                <a:solidFill>
                  <a:srgbClr val="94A3B8"/>
                </a:solidFill>
                <a:latin typeface="Segoe UI"/>
              </a:rPr>
              <a:t>Invokes psutil.cpu_percent(interval=None) to extract instantaneous deltas without blocking the asyncio loop.</a:t>
            </a:r>
          </a:p>
        </p:txBody>
      </p:sp>
      <p:sp>
        <p:nvSpPr>
          <p:cNvPr id="7" name="Rounded Rectangle 6"/>
          <p:cNvSpPr/>
          <p:nvPr/>
        </p:nvSpPr>
        <p:spPr>
          <a:xfrm>
            <a:off x="8138160" y="1645920"/>
            <a:ext cx="3322015"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10B981"/>
                </a:solidFill>
                <a:latin typeface="Segoe UI"/>
              </a:defRPr>
            </a:pPr>
            <a:r>
              <a:t>EMPIRICAL OVERHEAD BENCHMARKS</a:t>
            </a:r>
          </a:p>
          <a:p>
            <a:pPr>
              <a:spcAft>
                <a:spcPts val="400"/>
              </a:spcAft>
            </a:pPr>
            <a:r>
              <a:rPr sz="1000" b="1">
                <a:solidFill>
                  <a:srgbClr val="FFFFFF"/>
                </a:solidFill>
                <a:latin typeface="Segoe UI"/>
              </a:rPr>
              <a:t>Host CPU Footprint: </a:t>
            </a:r>
            <a:r>
              <a:rPr sz="1100" b="1">
                <a:solidFill>
                  <a:srgbClr val="34D399"/>
                </a:solidFill>
                <a:latin typeface="Segoe UI"/>
              </a:rPr>
              <a:t>1.4% to 1.8%
</a:t>
            </a:r>
            <a:r>
              <a:rPr sz="850">
                <a:solidFill>
                  <a:srgbClr val="94A3B8"/>
                </a:solidFill>
                <a:latin typeface="Segoe UI"/>
              </a:rPr>
              <a:t>  (Intel Core i7 12-thread host under 350ms continuous telemetry loop)</a:t>
            </a:r>
          </a:p>
          <a:p>
            <a:pPr>
              <a:spcAft>
                <a:spcPts val="400"/>
              </a:spcAft>
            </a:pPr>
            <a:r>
              <a:rPr sz="1000" b="1">
                <a:solidFill>
                  <a:srgbClr val="FFFFFF"/>
                </a:solidFill>
                <a:latin typeface="Segoe UI"/>
              </a:rPr>
              <a:t>Resident Set (RAM): </a:t>
            </a:r>
            <a:r>
              <a:rPr sz="1100" b="1">
                <a:solidFill>
                  <a:srgbClr val="34D399"/>
                </a:solidFill>
                <a:latin typeface="Segoe UI"/>
              </a:rPr>
              <a:t>42.6 MB
</a:t>
            </a:r>
            <a:r>
              <a:rPr sz="850">
                <a:solidFill>
                  <a:srgbClr val="94A3B8"/>
                </a:solidFill>
                <a:latin typeface="Segoe UI"/>
              </a:rPr>
              <a:t>  (Compact memory consumption capped by GC)</a:t>
            </a:r>
          </a:p>
          <a:p>
            <a:pPr>
              <a:spcAft>
                <a:spcPts val="400"/>
              </a:spcAft>
            </a:pPr>
            <a:r>
              <a:rPr sz="1000" b="1">
                <a:solidFill>
                  <a:srgbClr val="FFFFFF"/>
                </a:solidFill>
                <a:latin typeface="Segoe UI"/>
              </a:rPr>
              <a:t>WebSocket Frame: </a:t>
            </a:r>
            <a:r>
              <a:rPr sz="1100" b="1">
                <a:solidFill>
                  <a:srgbClr val="34D399"/>
                </a:solidFill>
                <a:latin typeface="Segoe UI"/>
              </a:rPr>
              <a:t>~1.1 KB
</a:t>
            </a:r>
            <a:r>
              <a:rPr sz="850">
                <a:solidFill>
                  <a:srgbClr val="94A3B8"/>
                </a:solidFill>
                <a:latin typeface="Segoe UI"/>
              </a:rPr>
              <a:t>  (14 serialized diagnostic parameters in JSON)</a:t>
            </a:r>
          </a:p>
          <a:p>
            <a:pPr>
              <a:spcAft>
                <a:spcPts val="400"/>
              </a:spcAft>
            </a:pPr>
            <a:r>
              <a:rPr sz="1000" b="1">
                <a:solidFill>
                  <a:srgbClr val="FFFFFF"/>
                </a:solidFill>
                <a:latin typeface="Segoe UI"/>
              </a:rPr>
              <a:t>Sampling Jitter: </a:t>
            </a:r>
            <a:r>
              <a:rPr sz="1100" b="1">
                <a:solidFill>
                  <a:srgbClr val="34D399"/>
                </a:solidFill>
                <a:latin typeface="Segoe UI"/>
              </a:rPr>
              <a:t>±4.2 ms
</a:t>
            </a:r>
            <a:r>
              <a:rPr sz="850">
                <a:solidFill>
                  <a:srgbClr val="94A3B8"/>
                </a:solidFill>
                <a:latin typeface="Segoe UI"/>
              </a:rPr>
              <a:t>  (Verified across 10,000 continuous frames)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1: SHAUNAK KULKARNI (ROLL NO: 23)  -  PAGE 3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Asynchronous WebSocket Protocol, SQLite WAL Persistence &amp; Viva Defense</a:t>
            </a:r>
          </a:p>
          <a:p>
            <a:pPr>
              <a:defRPr sz="1100">
                <a:solidFill>
                  <a:srgbClr val="94A3B8"/>
                </a:solidFill>
                <a:latin typeface="Segoe UI"/>
              </a:defRPr>
            </a:pPr>
            <a:r>
              <a:t>Ownership: Bidirectional communication pipeline, circular database buffer, and storage explorer</a:t>
            </a:r>
          </a:p>
        </p:txBody>
      </p:sp>
      <p:sp>
        <p:nvSpPr>
          <p:cNvPr id="5" name="Rounded Rectangle 4"/>
          <p:cNvSpPr/>
          <p:nvPr/>
        </p:nvSpPr>
        <p:spPr>
          <a:xfrm>
            <a:off x="731520" y="1645920"/>
            <a:ext cx="512064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38BDF8"/>
                </a:solidFill>
                <a:latin typeface="Segoe UI"/>
              </a:defRPr>
            </a:pPr>
            <a:r>
              <a:t>WEBSOCKET BROADCAST &amp; PERSISTENCE ARCHITECTURE</a:t>
            </a:r>
          </a:p>
          <a:p>
            <a:pPr>
              <a:spcAft>
                <a:spcPts val="600"/>
              </a:spcAft>
            </a:pPr>
            <a:r>
              <a:rPr sz="1050" b="1">
                <a:solidFill>
                  <a:srgbClr val="FFFFFF"/>
                </a:solidFill>
                <a:latin typeface="Segoe UI"/>
              </a:rPr>
              <a:t>▪ Persistent WebSocket Protocol (/ws)  -  </a:t>
            </a:r>
            <a:r>
              <a:rPr sz="1000">
                <a:solidFill>
                  <a:srgbClr val="94A3B8"/>
                </a:solidFill>
                <a:latin typeface="Segoe UI"/>
              </a:rPr>
              <a:t>Maintains an active client connection pool with 2-byte framing overhead, delivering sub-8ms broadcast latency to browser canvases.</a:t>
            </a:r>
          </a:p>
          <a:p>
            <a:pPr>
              <a:spcAft>
                <a:spcPts val="600"/>
              </a:spcAft>
            </a:pPr>
            <a:r>
              <a:rPr sz="1050" b="1">
                <a:solidFill>
                  <a:srgbClr val="FFFFFF"/>
                </a:solidFill>
                <a:latin typeface="Segoe UI"/>
              </a:rPr>
              <a:t>▪ SQLite Write-Ahead Logging (WAL)  -  </a:t>
            </a:r>
            <a:r>
              <a:rPr sz="1000">
                <a:solidFill>
                  <a:srgbClr val="94A3B8"/>
                </a:solidFill>
                <a:latin typeface="Segoe UI"/>
              </a:rPr>
              <a:t>Executes PRAGMA journal_mode=WAL; appending transactions to .db-wal file, allowing concurrent read queries while writes execute without locking.</a:t>
            </a:r>
          </a:p>
          <a:p>
            <a:pPr>
              <a:spcAft>
                <a:spcPts val="600"/>
              </a:spcAft>
            </a:pPr>
            <a:r>
              <a:rPr sz="1050" b="1">
                <a:solidFill>
                  <a:srgbClr val="FFFFFF"/>
                </a:solidFill>
                <a:latin typeface="Segoe UI"/>
              </a:rPr>
              <a:t>▪ Dual-Cadence Persistence Strategy  -  </a:t>
            </a:r>
            <a:r>
              <a:rPr sz="1000">
                <a:solidFill>
                  <a:srgbClr val="94A3B8"/>
                </a:solidFill>
                <a:latin typeface="Segoe UI"/>
              </a:rPr>
              <a:t>Streams telemetry at 350ms for smooth 60 FPS UI rendering, while aggregating and committing to metric_history every 5.0s to minimize disk writes.</a:t>
            </a:r>
          </a:p>
          <a:p>
            <a:pPr>
              <a:spcAft>
                <a:spcPts val="600"/>
              </a:spcAft>
            </a:pPr>
            <a:r>
              <a:rPr sz="1050" b="1">
                <a:solidFill>
                  <a:srgbClr val="FFFFFF"/>
                </a:solidFill>
                <a:latin typeface="Segoe UI"/>
              </a:rPr>
              <a:t>▪ Automated Circular Buffer Retention  -  </a:t>
            </a:r>
            <a:r>
              <a:rPr sz="1000">
                <a:solidFill>
                  <a:srgbClr val="94A3B8"/>
                </a:solidFill>
                <a:latin typeface="Segoe UI"/>
              </a:rPr>
              <a:t>Pruning trigger automatically retains the most recent 10,000 telemetry entries, permanently capping database footprint at under 50 MB.</a:t>
            </a:r>
          </a:p>
          <a:p>
            <a:pPr>
              <a:spcAft>
                <a:spcPts val="600"/>
              </a:spcAft>
            </a:pPr>
            <a:r>
              <a:rPr sz="1050" b="1">
                <a:solidFill>
                  <a:srgbClr val="FFFFFF"/>
                </a:solidFill>
                <a:latin typeface="Segoe UI"/>
              </a:rPr>
              <a:t>▪ Storage Volumes Subsystem (/api/fs)  -  </a:t>
            </a:r>
            <a:r>
              <a:rPr sz="1000">
                <a:solidFill>
                  <a:srgbClr val="94A3B8"/>
                </a:solidFill>
                <a:latin typeface="Segoe UI"/>
              </a:rPr>
              <a:t>Scans host mountpoints (NTFS, FAT32, ext4), computing sector allocation ratios, partition capacities, and free disk volumes in real-time.</a:t>
            </a:r>
          </a:p>
        </p:txBody>
      </p:sp>
      <p:sp>
        <p:nvSpPr>
          <p:cNvPr id="6" name="Rounded Rectangle 5"/>
          <p:cNvSpPr/>
          <p:nvPr/>
        </p:nvSpPr>
        <p:spPr>
          <a:xfrm>
            <a:off x="6126480" y="1645920"/>
            <a:ext cx="530352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818CF8"/>
                </a:solidFill>
                <a:latin typeface="Segoe UI"/>
              </a:defRPr>
            </a:pPr>
            <a:r>
              <a:t>ORAL TECHNICAL VIVA VOCE DEFENSE (MEMBER 1)</a:t>
            </a:r>
          </a:p>
          <a:p>
            <a:pPr>
              <a:spcAft>
                <a:spcPts val="600"/>
              </a:spcAft>
            </a:pPr>
            <a:r>
              <a:rPr sz="1050" b="1">
                <a:solidFill>
                  <a:srgbClr val="FFFFFF"/>
                </a:solidFill>
                <a:latin typeface="Segoe UI"/>
              </a:rPr>
              <a:t>▪ Q1: Why WebSockets over SSE or HTTP Long Polling?</a:t>
            </a:r>
          </a:p>
          <a:p>
            <a:pPr>
              <a:spcAft>
                <a:spcPts val="800"/>
              </a:spcAft>
              <a:defRPr sz="950">
                <a:solidFill>
                  <a:srgbClr val="94A3B8"/>
                </a:solidFill>
                <a:latin typeface="Segoe UI"/>
              </a:defRPr>
            </a:pPr>
            <a:r>
              <a:t>Ans: HTTP long polling incurs recurrent TCP handshake and header overhead. Server-Sent Events (SSE) is unidirectional. WebSockets provide persistent full-duplex communication over a single TCP socket with 2-byte framing overhead, supporting simultaneous telemetry broadcast and bidirectional client control (e.g. process kill requests) with &lt;8ms latency.</a:t>
            </a:r>
          </a:p>
          <a:p>
            <a:pPr>
              <a:spcAft>
                <a:spcPts val="600"/>
              </a:spcAft>
            </a:pPr>
            <a:r>
              <a:rPr sz="1050" b="1">
                <a:solidFill>
                  <a:srgbClr val="FFFFFF"/>
                </a:solidFill>
                <a:latin typeface="Segoe UI"/>
              </a:rPr>
              <a:t>▪ Q2: How does SQLite WAL mode prevent reader/writer locking?</a:t>
            </a:r>
          </a:p>
          <a:p>
            <a:pPr>
              <a:spcAft>
                <a:spcPts val="800"/>
              </a:spcAft>
              <a:defRPr sz="950">
                <a:solidFill>
                  <a:srgbClr val="94A3B8"/>
                </a:solidFill>
                <a:latin typeface="Segoe UI"/>
              </a:defRPr>
            </a:pPr>
            <a:r>
              <a:t>Ans: Default SQLite locks the database file during writes. In WAL mode, changes append to a separate write-ahead log (.db-wal). Readers access consistent database snapshots concurrently without being blocked by incoming 350ms telemetry commits, eliminating locking contention.</a:t>
            </a:r>
          </a:p>
          <a:p>
            <a:pPr>
              <a:spcAft>
                <a:spcPts val="600"/>
              </a:spcAft>
            </a:pPr>
            <a:r>
              <a:rPr sz="1050" b="1">
                <a:solidFill>
                  <a:srgbClr val="FFFFFF"/>
                </a:solidFill>
                <a:latin typeface="Segoe UI"/>
              </a:rPr>
              <a:t>▪ Q3: How do you avoid monitor-induced CPU distortion?</a:t>
            </a:r>
          </a:p>
          <a:p>
            <a:pPr>
              <a:defRPr sz="950">
                <a:solidFill>
                  <a:srgbClr val="94A3B8"/>
                </a:solidFill>
                <a:latin typeface="Segoe UI"/>
              </a:defRPr>
            </a:pPr>
            <a:r>
              <a:t>Ans: By invoking psutil.cpu_percent(interval=None) for instantaneous deltas and yielding control to asyncio via await asyncio.sleep(0.35), keeping agent CPU usage under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2: JATIN JOGALE (ROLL NO: 04)  -  PAGE 4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Multi-Algorithm CPU Process Scheduling Simulator &amp; Mathematical Modeling</a:t>
            </a:r>
          </a:p>
          <a:p>
            <a:pPr>
              <a:defRPr sz="1100">
                <a:solidFill>
                  <a:srgbClr val="94A3B8"/>
                </a:solidFill>
                <a:latin typeface="Segoe UI"/>
              </a:defRPr>
            </a:pPr>
            <a:r>
              <a:t>Ownership: Preemptive and non-preemptive scheduling solvers, workload benchmark traces, and metric derivations</a:t>
            </a:r>
          </a:p>
        </p:txBody>
      </p:sp>
      <p:sp>
        <p:nvSpPr>
          <p:cNvPr id="5" name="Rounded Rectangle 4"/>
          <p:cNvSpPr/>
          <p:nvPr/>
        </p:nvSpPr>
        <p:spPr>
          <a:xfrm>
            <a:off x="731520" y="1645920"/>
            <a:ext cx="5486400" cy="21031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38BDF8"/>
                </a:solidFill>
                <a:latin typeface="Segoe UI"/>
              </a:defRPr>
            </a:pPr>
            <a:r>
              <a:t>SUPPORTED SCHEDULING POLICIES</a:t>
            </a:r>
          </a:p>
          <a:p>
            <a:pPr>
              <a:spcAft>
                <a:spcPts val="600"/>
              </a:spcAft>
            </a:pPr>
            <a:r>
              <a:rPr sz="1050" b="1">
                <a:solidFill>
                  <a:srgbClr val="FFFFFF"/>
                </a:solidFill>
                <a:latin typeface="Segoe UI"/>
              </a:rPr>
              <a:t>▪ Shortest Remaining Time First (SRTF)  -  </a:t>
            </a:r>
            <a:r>
              <a:rPr sz="1000">
                <a:solidFill>
                  <a:srgbClr val="94A3B8"/>
                </a:solidFill>
                <a:latin typeface="Segoe UI"/>
              </a:rPr>
              <a:t>Preemptive; dispatches process with minimum remaining burst BT_rem; executes context switch on shorter arrival.</a:t>
            </a:r>
          </a:p>
          <a:p>
            <a:pPr>
              <a:spcAft>
                <a:spcPts val="600"/>
              </a:spcAft>
            </a:pPr>
            <a:r>
              <a:rPr sz="1050" b="1">
                <a:solidFill>
                  <a:srgbClr val="FFFFFF"/>
                </a:solidFill>
                <a:latin typeface="Segoe UI"/>
              </a:rPr>
              <a:t>▪ First-Come, First-Served (FCFS)  -  </a:t>
            </a:r>
            <a:r>
              <a:rPr sz="1000">
                <a:solidFill>
                  <a:srgbClr val="94A3B8"/>
                </a:solidFill>
                <a:latin typeface="Segoe UI"/>
              </a:rPr>
              <a:t>Non-preemptive FIFO queue ordered by arrival time AT_i; demonstrates convoy effect.</a:t>
            </a:r>
          </a:p>
          <a:p>
            <a:pPr>
              <a:spcAft>
                <a:spcPts val="600"/>
              </a:spcAft>
            </a:pPr>
            <a:r>
              <a:rPr sz="1050" b="1">
                <a:solidFill>
                  <a:srgbClr val="FFFFFF"/>
                </a:solidFill>
                <a:latin typeface="Segoe UI"/>
              </a:rPr>
              <a:t>▪ Shortest Job First (SJF)  -  </a:t>
            </a:r>
            <a:r>
              <a:rPr sz="1000">
                <a:solidFill>
                  <a:srgbClr val="94A3B8"/>
                </a:solidFill>
                <a:latin typeface="Segoe UI"/>
              </a:rPr>
              <a:t>Non-preemptive; dispatches ready process with smallest total burst time BT_i.</a:t>
            </a:r>
          </a:p>
          <a:p>
            <a:pPr>
              <a:spcAft>
                <a:spcPts val="600"/>
              </a:spcAft>
            </a:pPr>
            <a:r>
              <a:rPr sz="1050" b="1">
                <a:solidFill>
                  <a:srgbClr val="FFFFFF"/>
                </a:solidFill>
                <a:latin typeface="Segoe UI"/>
              </a:rPr>
              <a:t>▪ Priority &amp; Round Robin (RR)  -  </a:t>
            </a:r>
            <a:r>
              <a:rPr sz="1000">
                <a:solidFill>
                  <a:srgbClr val="94A3B8"/>
                </a:solidFill>
                <a:latin typeface="Segoe UI"/>
              </a:rPr>
              <a:t>Priority (preemptive/non-preemptive) and RR with time quantum q=2 tracking queue rotations.</a:t>
            </a:r>
          </a:p>
        </p:txBody>
      </p:sp>
      <p:sp>
        <p:nvSpPr>
          <p:cNvPr id="6" name="Rounded Rectangle 5"/>
          <p:cNvSpPr/>
          <p:nvPr/>
        </p:nvSpPr>
        <p:spPr>
          <a:xfrm>
            <a:off x="6492240" y="1645920"/>
            <a:ext cx="4937760" cy="21031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818CF8"/>
                </a:solidFill>
                <a:latin typeface="Segoe UI"/>
              </a:defRPr>
            </a:pPr>
            <a:r>
              <a:t>MATHEMATICAL FORMULATIONS</a:t>
            </a:r>
          </a:p>
          <a:p>
            <a:pPr>
              <a:spcAft>
                <a:spcPts val="400"/>
              </a:spcAft>
              <a:defRPr sz="1000">
                <a:solidFill>
                  <a:srgbClr val="38BDF8"/>
                </a:solidFill>
                <a:latin typeface="Consolas"/>
              </a:defRPr>
            </a:pPr>
            <a:r>
              <a:t>• Turnaround Time (TAT_i) = CT_i - AT_i</a:t>
            </a:r>
            <a:br/>
            <a:r>
              <a:t>• Waiting Time (WT_i) = TAT_i - BT_i</a:t>
            </a:r>
            <a:br/>
            <a:r>
              <a:t>• Response Time (RT_i) = t_first_exec - AT_i</a:t>
            </a:r>
            <a:br/>
            <a:r>
              <a:t>• Average Waiting Time (AWT) = (1/n) Σ WT_i</a:t>
            </a:r>
            <a:br/>
            <a:r>
              <a:t>• Average Turnaround (ATAT) = (1/n) Σ TAT_i</a:t>
            </a:r>
            <a:br/>
            <a:r>
              <a:t>• CPU Throughput = n / (t_completion - t_start)</a:t>
            </a:r>
          </a:p>
        </p:txBody>
      </p:sp>
      <p:sp>
        <p:nvSpPr>
          <p:cNvPr id="7" name="TextBox 6"/>
          <p:cNvSpPr txBox="1"/>
          <p:nvPr/>
        </p:nvSpPr>
        <p:spPr>
          <a:xfrm>
            <a:off x="731520" y="3840480"/>
            <a:ext cx="10728655" cy="320040"/>
          </a:xfrm>
          <a:prstGeom prst="rect">
            <a:avLst/>
          </a:prstGeom>
          <a:noFill/>
        </p:spPr>
        <p:txBody>
          <a:bodyPr wrap="none">
            <a:spAutoFit/>
          </a:bodyPr>
          <a:lstStyle/>
          <a:p>
            <a:pPr>
              <a:defRPr sz="1100" b="1">
                <a:solidFill>
                  <a:srgbClr val="FBBF24"/>
                </a:solidFill>
                <a:latin typeface="Segoe UI"/>
              </a:defRPr>
            </a:pPr>
            <a:r>
              <a:t>ACADEMIC BENCHMARK WORKLOAD EXECUTION TRACE (SRTF SCHEDULER  -  OPTIMAL)</a:t>
            </a:r>
          </a:p>
        </p:txBody>
      </p:sp>
      <p:graphicFrame>
        <p:nvGraphicFramePr>
          <p:cNvPr id="8" name="Table 7"/>
          <p:cNvGraphicFramePr>
            <a:graphicFrameLocks noGrp="1"/>
          </p:cNvGraphicFramePr>
          <p:nvPr/>
        </p:nvGraphicFramePr>
        <p:xfrm>
          <a:off x="731520" y="4206240"/>
          <a:ext cx="10728655" cy="2011680"/>
        </p:xfrm>
        <a:graphic>
          <a:graphicData uri="http://schemas.openxmlformats.org/drawingml/2006/table">
            <a:tbl>
              <a:tblPr firstRow="1" bandRow="1">
                <a:tableStyleId>{5C22544A-7EE6-4342-B048-85BDC9FD1C3A}</a:tableStyleId>
              </a:tblPr>
              <a:tblGrid>
                <a:gridCol w="1097280"/>
                <a:gridCol w="1280160"/>
                <a:gridCol w="1280160"/>
                <a:gridCol w="1280160"/>
                <a:gridCol w="1463040"/>
                <a:gridCol w="1463040"/>
                <a:gridCol w="1463040"/>
                <a:gridCol w="1401775"/>
              </a:tblGrid>
              <a:tr h="287382">
                <a:tc>
                  <a:txBody>
                    <a:bodyPr/>
                    <a:lstStyle/>
                    <a:p>
                      <a:pPr algn="ctr">
                        <a:defRPr sz="1000" b="1">
                          <a:solidFill>
                            <a:srgbClr val="38BDF8"/>
                          </a:solidFill>
                          <a:latin typeface="Segoe UI"/>
                        </a:defRPr>
                      </a:pPr>
                      <a:r>
                        <a:t>PID</a:t>
                      </a:r>
                    </a:p>
                  </a:txBody>
                  <a:tcPr>
                    <a:solidFill>
                      <a:srgbClr val="0F172A"/>
                    </a:solidFill>
                  </a:tcPr>
                </a:tc>
                <a:tc>
                  <a:txBody>
                    <a:bodyPr/>
                    <a:lstStyle/>
                    <a:p>
                      <a:pPr algn="ctr">
                        <a:defRPr sz="1000" b="1">
                          <a:solidFill>
                            <a:srgbClr val="38BDF8"/>
                          </a:solidFill>
                          <a:latin typeface="Segoe UI"/>
                        </a:defRPr>
                      </a:pPr>
                      <a:r>
                        <a:t>Arrival (AT)</a:t>
                      </a:r>
                    </a:p>
                  </a:txBody>
                  <a:tcPr>
                    <a:solidFill>
                      <a:srgbClr val="0F172A"/>
                    </a:solidFill>
                  </a:tcPr>
                </a:tc>
                <a:tc>
                  <a:txBody>
                    <a:bodyPr/>
                    <a:lstStyle/>
                    <a:p>
                      <a:pPr algn="ctr">
                        <a:defRPr sz="1000" b="1">
                          <a:solidFill>
                            <a:srgbClr val="38BDF8"/>
                          </a:solidFill>
                          <a:latin typeface="Segoe UI"/>
                        </a:defRPr>
                      </a:pPr>
                      <a:r>
                        <a:t>Burst (BT)</a:t>
                      </a:r>
                    </a:p>
                  </a:txBody>
                  <a:tcPr>
                    <a:solidFill>
                      <a:srgbClr val="0F172A"/>
                    </a:solidFill>
                  </a:tcPr>
                </a:tc>
                <a:tc>
                  <a:txBody>
                    <a:bodyPr/>
                    <a:lstStyle/>
                    <a:p>
                      <a:pPr algn="ctr">
                        <a:defRPr sz="1000" b="1">
                          <a:solidFill>
                            <a:srgbClr val="38BDF8"/>
                          </a:solidFill>
                          <a:latin typeface="Segoe UI"/>
                        </a:defRPr>
                      </a:pPr>
                      <a:r>
                        <a:t>Priority</a:t>
                      </a:r>
                    </a:p>
                  </a:txBody>
                  <a:tcPr>
                    <a:solidFill>
                      <a:srgbClr val="0F172A"/>
                    </a:solidFill>
                  </a:tcPr>
                </a:tc>
                <a:tc>
                  <a:txBody>
                    <a:bodyPr/>
                    <a:lstStyle/>
                    <a:p>
                      <a:pPr algn="ctr">
                        <a:defRPr sz="1000" b="1">
                          <a:solidFill>
                            <a:srgbClr val="38BDF8"/>
                          </a:solidFill>
                          <a:latin typeface="Segoe UI"/>
                        </a:defRPr>
                      </a:pPr>
                      <a:r>
                        <a:t>Completion (CT)</a:t>
                      </a:r>
                    </a:p>
                  </a:txBody>
                  <a:tcPr>
                    <a:solidFill>
                      <a:srgbClr val="0F172A"/>
                    </a:solidFill>
                  </a:tcPr>
                </a:tc>
                <a:tc>
                  <a:txBody>
                    <a:bodyPr/>
                    <a:lstStyle/>
                    <a:p>
                      <a:pPr algn="ctr">
                        <a:defRPr sz="1000" b="1">
                          <a:solidFill>
                            <a:srgbClr val="38BDF8"/>
                          </a:solidFill>
                          <a:latin typeface="Segoe UI"/>
                        </a:defRPr>
                      </a:pPr>
                      <a:r>
                        <a:t>Turnaround (TAT)</a:t>
                      </a:r>
                    </a:p>
                  </a:txBody>
                  <a:tcPr>
                    <a:solidFill>
                      <a:srgbClr val="0F172A"/>
                    </a:solidFill>
                  </a:tcPr>
                </a:tc>
                <a:tc>
                  <a:txBody>
                    <a:bodyPr/>
                    <a:lstStyle/>
                    <a:p>
                      <a:pPr algn="ctr">
                        <a:defRPr sz="1000" b="1">
                          <a:solidFill>
                            <a:srgbClr val="38BDF8"/>
                          </a:solidFill>
                          <a:latin typeface="Segoe UI"/>
                        </a:defRPr>
                      </a:pPr>
                      <a:r>
                        <a:t>Waiting (WT)</a:t>
                      </a:r>
                    </a:p>
                  </a:txBody>
                  <a:tcPr>
                    <a:solidFill>
                      <a:srgbClr val="0F172A"/>
                    </a:solidFill>
                  </a:tcPr>
                </a:tc>
                <a:tc>
                  <a:txBody>
                    <a:bodyPr/>
                    <a:lstStyle/>
                    <a:p>
                      <a:pPr algn="ctr">
                        <a:defRPr sz="1000" b="1">
                          <a:solidFill>
                            <a:srgbClr val="38BDF8"/>
                          </a:solidFill>
                          <a:latin typeface="Segoe UI"/>
                        </a:defRPr>
                      </a:pPr>
                      <a:r>
                        <a:t>Status</a:t>
                      </a:r>
                    </a:p>
                  </a:txBody>
                  <a:tcPr>
                    <a:solidFill>
                      <a:srgbClr val="0F172A"/>
                    </a:solidFill>
                  </a:tcPr>
                </a:tc>
              </a:tr>
              <a:tr h="287382">
                <a:tc>
                  <a:txBody>
                    <a:bodyPr/>
                    <a:lstStyle/>
                    <a:p>
                      <a:pPr algn="ctr">
                        <a:defRPr sz="950">
                          <a:solidFill>
                            <a:srgbClr val="FBBF24"/>
                          </a:solidFill>
                          <a:latin typeface="Segoe UI"/>
                        </a:defRPr>
                      </a:pPr>
                      <a:r>
                        <a:t>P1</a:t>
                      </a:r>
                    </a:p>
                  </a:txBody>
                  <a:tcPr>
                    <a:solidFill>
                      <a:srgbClr val="172541"/>
                    </a:solidFill>
                  </a:tcPr>
                </a:tc>
                <a:tc>
                  <a:txBody>
                    <a:bodyPr/>
                    <a:lstStyle/>
                    <a:p>
                      <a:pPr algn="ctr">
                        <a:defRPr sz="950">
                          <a:solidFill>
                            <a:srgbClr val="FFFFFF"/>
                          </a:solidFill>
                          <a:latin typeface="Segoe UI"/>
                        </a:defRPr>
                      </a:pPr>
                      <a:r>
                        <a:t>0 ms</a:t>
                      </a:r>
                    </a:p>
                  </a:txBody>
                  <a:tcPr>
                    <a:solidFill>
                      <a:srgbClr val="172541"/>
                    </a:solidFill>
                  </a:tcPr>
                </a:tc>
                <a:tc>
                  <a:txBody>
                    <a:bodyPr/>
                    <a:lstStyle/>
                    <a:p>
                      <a:pPr algn="ctr">
                        <a:defRPr sz="950">
                          <a:solidFill>
                            <a:srgbClr val="FFFFFF"/>
                          </a:solidFill>
                          <a:latin typeface="Segoe UI"/>
                        </a:defRPr>
                      </a:pPr>
                      <a:r>
                        <a:t>3 ms</a:t>
                      </a:r>
                    </a:p>
                  </a:txBody>
                  <a:tcPr>
                    <a:solidFill>
                      <a:srgbClr val="172541"/>
                    </a:solidFill>
                  </a:tcPr>
                </a:tc>
                <a:tc>
                  <a:txBody>
                    <a:bodyPr/>
                    <a:lstStyle/>
                    <a:p>
                      <a:pPr algn="ctr">
                        <a:defRPr sz="950">
                          <a:solidFill>
                            <a:srgbClr val="FFFFFF"/>
                          </a:solidFill>
                          <a:latin typeface="Segoe UI"/>
                        </a:defRPr>
                      </a:pPr>
                      <a:r>
                        <a:t>3</a:t>
                      </a:r>
                    </a:p>
                  </a:txBody>
                  <a:tcPr>
                    <a:solidFill>
                      <a:srgbClr val="172541"/>
                    </a:solidFill>
                  </a:tcPr>
                </a:tc>
                <a:tc>
                  <a:txBody>
                    <a:bodyPr/>
                    <a:lstStyle/>
                    <a:p>
                      <a:pPr algn="ctr">
                        <a:defRPr sz="950">
                          <a:solidFill>
                            <a:srgbClr val="FFFFFF"/>
                          </a:solidFill>
                          <a:latin typeface="Segoe UI"/>
                        </a:defRPr>
                      </a:pPr>
                      <a:r>
                        <a:t>3 ms</a:t>
                      </a:r>
                    </a:p>
                  </a:txBody>
                  <a:tcPr>
                    <a:solidFill>
                      <a:srgbClr val="172541"/>
                    </a:solidFill>
                  </a:tcPr>
                </a:tc>
                <a:tc>
                  <a:txBody>
                    <a:bodyPr/>
                    <a:lstStyle/>
                    <a:p>
                      <a:pPr algn="ctr">
                        <a:defRPr sz="950">
                          <a:solidFill>
                            <a:srgbClr val="FFFFFF"/>
                          </a:solidFill>
                          <a:latin typeface="Segoe UI"/>
                        </a:defRPr>
                      </a:pPr>
                      <a:r>
                        <a:t>3 ms</a:t>
                      </a:r>
                    </a:p>
                  </a:txBody>
                  <a:tcPr>
                    <a:solidFill>
                      <a:srgbClr val="172541"/>
                    </a:solidFill>
                  </a:tcPr>
                </a:tc>
                <a:tc>
                  <a:txBody>
                    <a:bodyPr/>
                    <a:lstStyle/>
                    <a:p>
                      <a:pPr algn="ctr">
                        <a:defRPr sz="950">
                          <a:solidFill>
                            <a:srgbClr val="FFFFFF"/>
                          </a:solidFill>
                          <a:latin typeface="Segoe UI"/>
                        </a:defRPr>
                      </a:pPr>
                      <a:r>
                        <a:t>0 ms</a:t>
                      </a:r>
                    </a:p>
                  </a:txBody>
                  <a:tcPr>
                    <a:solidFill>
                      <a:srgbClr val="172541"/>
                    </a:solidFill>
                  </a:tcPr>
                </a:tc>
                <a:tc>
                  <a:txBody>
                    <a:bodyPr/>
                    <a:lstStyle/>
                    <a:p>
                      <a:pPr algn="ctr">
                        <a:defRPr sz="950">
                          <a:solidFill>
                            <a:srgbClr val="FFFFFF"/>
                          </a:solidFill>
                          <a:latin typeface="Segoe UI"/>
                        </a:defRPr>
                      </a:pPr>
                      <a:r>
                        <a:t>Done</a:t>
                      </a:r>
                    </a:p>
                  </a:txBody>
                  <a:tcPr>
                    <a:solidFill>
                      <a:srgbClr val="172541"/>
                    </a:solidFill>
                  </a:tcPr>
                </a:tc>
              </a:tr>
              <a:tr h="287382">
                <a:tc>
                  <a:txBody>
                    <a:bodyPr/>
                    <a:lstStyle/>
                    <a:p>
                      <a:pPr algn="ctr">
                        <a:defRPr sz="950">
                          <a:solidFill>
                            <a:srgbClr val="FBBF24"/>
                          </a:solidFill>
                          <a:latin typeface="Segoe UI"/>
                        </a:defRPr>
                      </a:pPr>
                      <a:r>
                        <a:t>P2</a:t>
                      </a:r>
                    </a:p>
                  </a:txBody>
                  <a:tcPr>
                    <a:solidFill>
                      <a:srgbClr val="172541"/>
                    </a:solidFill>
                  </a:tcPr>
                </a:tc>
                <a:tc>
                  <a:txBody>
                    <a:bodyPr/>
                    <a:lstStyle/>
                    <a:p>
                      <a:pPr algn="ctr">
                        <a:defRPr sz="950">
                          <a:solidFill>
                            <a:srgbClr val="FFFFFF"/>
                          </a:solidFill>
                          <a:latin typeface="Segoe UI"/>
                        </a:defRPr>
                      </a:pPr>
                      <a:r>
                        <a:t>2 ms</a:t>
                      </a:r>
                    </a:p>
                  </a:txBody>
                  <a:tcPr>
                    <a:solidFill>
                      <a:srgbClr val="172541"/>
                    </a:solidFill>
                  </a:tcPr>
                </a:tc>
                <a:tc>
                  <a:txBody>
                    <a:bodyPr/>
                    <a:lstStyle/>
                    <a:p>
                      <a:pPr algn="ctr">
                        <a:defRPr sz="950">
                          <a:solidFill>
                            <a:srgbClr val="FFFFFF"/>
                          </a:solidFill>
                          <a:latin typeface="Segoe UI"/>
                        </a:defRPr>
                      </a:pPr>
                      <a:r>
                        <a:t>6 ms</a:t>
                      </a:r>
                    </a:p>
                  </a:txBody>
                  <a:tcPr>
                    <a:solidFill>
                      <a:srgbClr val="172541"/>
                    </a:solidFill>
                  </a:tcPr>
                </a:tc>
                <a:tc>
                  <a:txBody>
                    <a:bodyPr/>
                    <a:lstStyle/>
                    <a:p>
                      <a:pPr algn="ctr">
                        <a:defRPr sz="950">
                          <a:solidFill>
                            <a:srgbClr val="FFFFFF"/>
                          </a:solidFill>
                          <a:latin typeface="Segoe UI"/>
                        </a:defRPr>
                      </a:pPr>
                      <a:r>
                        <a:t>1</a:t>
                      </a:r>
                    </a:p>
                  </a:txBody>
                  <a:tcPr>
                    <a:solidFill>
                      <a:srgbClr val="172541"/>
                    </a:solidFill>
                  </a:tcPr>
                </a:tc>
                <a:tc>
                  <a:txBody>
                    <a:bodyPr/>
                    <a:lstStyle/>
                    <a:p>
                      <a:pPr algn="ctr">
                        <a:defRPr sz="950">
                          <a:solidFill>
                            <a:srgbClr val="FFFFFF"/>
                          </a:solidFill>
                          <a:latin typeface="Segoe UI"/>
                        </a:defRPr>
                      </a:pPr>
                      <a:r>
                        <a:t>15 ms</a:t>
                      </a:r>
                    </a:p>
                  </a:txBody>
                  <a:tcPr>
                    <a:solidFill>
                      <a:srgbClr val="172541"/>
                    </a:solidFill>
                  </a:tcPr>
                </a:tc>
                <a:tc>
                  <a:txBody>
                    <a:bodyPr/>
                    <a:lstStyle/>
                    <a:p>
                      <a:pPr algn="ctr">
                        <a:defRPr sz="950">
                          <a:solidFill>
                            <a:srgbClr val="FFFFFF"/>
                          </a:solidFill>
                          <a:latin typeface="Segoe UI"/>
                        </a:defRPr>
                      </a:pPr>
                      <a:r>
                        <a:t>13 ms</a:t>
                      </a:r>
                    </a:p>
                  </a:txBody>
                  <a:tcPr>
                    <a:solidFill>
                      <a:srgbClr val="172541"/>
                    </a:solidFill>
                  </a:tcPr>
                </a:tc>
                <a:tc>
                  <a:txBody>
                    <a:bodyPr/>
                    <a:lstStyle/>
                    <a:p>
                      <a:pPr algn="ctr">
                        <a:defRPr sz="950">
                          <a:solidFill>
                            <a:srgbClr val="FFFFFF"/>
                          </a:solidFill>
                          <a:latin typeface="Segoe UI"/>
                        </a:defRPr>
                      </a:pPr>
                      <a:r>
                        <a:t>7 ms</a:t>
                      </a:r>
                    </a:p>
                  </a:txBody>
                  <a:tcPr>
                    <a:solidFill>
                      <a:srgbClr val="172541"/>
                    </a:solidFill>
                  </a:tcPr>
                </a:tc>
                <a:tc>
                  <a:txBody>
                    <a:bodyPr/>
                    <a:lstStyle/>
                    <a:p>
                      <a:pPr algn="ctr">
                        <a:defRPr sz="950">
                          <a:solidFill>
                            <a:srgbClr val="FFFFFF"/>
                          </a:solidFill>
                          <a:latin typeface="Segoe UI"/>
                        </a:defRPr>
                      </a:pPr>
                      <a:r>
                        <a:t>Done</a:t>
                      </a:r>
                    </a:p>
                  </a:txBody>
                  <a:tcPr>
                    <a:solidFill>
                      <a:srgbClr val="172541"/>
                    </a:solidFill>
                  </a:tcPr>
                </a:tc>
              </a:tr>
              <a:tr h="287382">
                <a:tc>
                  <a:txBody>
                    <a:bodyPr/>
                    <a:lstStyle/>
                    <a:p>
                      <a:pPr algn="ctr">
                        <a:defRPr sz="950">
                          <a:solidFill>
                            <a:srgbClr val="FBBF24"/>
                          </a:solidFill>
                          <a:latin typeface="Segoe UI"/>
                        </a:defRPr>
                      </a:pPr>
                      <a:r>
                        <a:t>P3</a:t>
                      </a:r>
                    </a:p>
                  </a:txBody>
                  <a:tcPr>
                    <a:solidFill>
                      <a:srgbClr val="172541"/>
                    </a:solidFill>
                  </a:tcPr>
                </a:tc>
                <a:tc>
                  <a:txBody>
                    <a:bodyPr/>
                    <a:lstStyle/>
                    <a:p>
                      <a:pPr algn="ctr">
                        <a:defRPr sz="950">
                          <a:solidFill>
                            <a:srgbClr val="FFFFFF"/>
                          </a:solidFill>
                          <a:latin typeface="Segoe UI"/>
                        </a:defRPr>
                      </a:pPr>
                      <a:r>
                        <a:t>4 ms</a:t>
                      </a:r>
                    </a:p>
                  </a:txBody>
                  <a:tcPr>
                    <a:solidFill>
                      <a:srgbClr val="172541"/>
                    </a:solidFill>
                  </a:tcPr>
                </a:tc>
                <a:tc>
                  <a:txBody>
                    <a:bodyPr/>
                    <a:lstStyle/>
                    <a:p>
                      <a:pPr algn="ctr">
                        <a:defRPr sz="950">
                          <a:solidFill>
                            <a:srgbClr val="FFFFFF"/>
                          </a:solidFill>
                          <a:latin typeface="Segoe UI"/>
                        </a:defRPr>
                      </a:pPr>
                      <a:r>
                        <a:t>4 ms</a:t>
                      </a:r>
                    </a:p>
                  </a:txBody>
                  <a:tcPr>
                    <a:solidFill>
                      <a:srgbClr val="172541"/>
                    </a:solidFill>
                  </a:tcPr>
                </a:tc>
                <a:tc>
                  <a:txBody>
                    <a:bodyPr/>
                    <a:lstStyle/>
                    <a:p>
                      <a:pPr algn="ctr">
                        <a:defRPr sz="950">
                          <a:solidFill>
                            <a:srgbClr val="FFFFFF"/>
                          </a:solidFill>
                          <a:latin typeface="Segoe UI"/>
                        </a:defRPr>
                      </a:pPr>
                      <a:r>
                        <a:t>4</a:t>
                      </a:r>
                    </a:p>
                  </a:txBody>
                  <a:tcPr>
                    <a:solidFill>
                      <a:srgbClr val="172541"/>
                    </a:solidFill>
                  </a:tcPr>
                </a:tc>
                <a:tc>
                  <a:txBody>
                    <a:bodyPr/>
                    <a:lstStyle/>
                    <a:p>
                      <a:pPr algn="ctr">
                        <a:defRPr sz="950">
                          <a:solidFill>
                            <a:srgbClr val="FFFFFF"/>
                          </a:solidFill>
                          <a:latin typeface="Segoe UI"/>
                        </a:defRPr>
                      </a:pPr>
                      <a:r>
                        <a:t>8 ms</a:t>
                      </a:r>
                    </a:p>
                  </a:txBody>
                  <a:tcPr>
                    <a:solidFill>
                      <a:srgbClr val="172541"/>
                    </a:solidFill>
                  </a:tcPr>
                </a:tc>
                <a:tc>
                  <a:txBody>
                    <a:bodyPr/>
                    <a:lstStyle/>
                    <a:p>
                      <a:pPr algn="ctr">
                        <a:defRPr sz="950">
                          <a:solidFill>
                            <a:srgbClr val="FFFFFF"/>
                          </a:solidFill>
                          <a:latin typeface="Segoe UI"/>
                        </a:defRPr>
                      </a:pPr>
                      <a:r>
                        <a:t>4 ms</a:t>
                      </a:r>
                    </a:p>
                  </a:txBody>
                  <a:tcPr>
                    <a:solidFill>
                      <a:srgbClr val="172541"/>
                    </a:solidFill>
                  </a:tcPr>
                </a:tc>
                <a:tc>
                  <a:txBody>
                    <a:bodyPr/>
                    <a:lstStyle/>
                    <a:p>
                      <a:pPr algn="ctr">
                        <a:defRPr sz="950">
                          <a:solidFill>
                            <a:srgbClr val="FFFFFF"/>
                          </a:solidFill>
                          <a:latin typeface="Segoe UI"/>
                        </a:defRPr>
                      </a:pPr>
                      <a:r>
                        <a:t>0 ms</a:t>
                      </a:r>
                    </a:p>
                  </a:txBody>
                  <a:tcPr>
                    <a:solidFill>
                      <a:srgbClr val="172541"/>
                    </a:solidFill>
                  </a:tcPr>
                </a:tc>
                <a:tc>
                  <a:txBody>
                    <a:bodyPr/>
                    <a:lstStyle/>
                    <a:p>
                      <a:pPr algn="ctr">
                        <a:defRPr sz="950">
                          <a:solidFill>
                            <a:srgbClr val="FFFFFF"/>
                          </a:solidFill>
                          <a:latin typeface="Segoe UI"/>
                        </a:defRPr>
                      </a:pPr>
                      <a:r>
                        <a:t>Done</a:t>
                      </a:r>
                    </a:p>
                  </a:txBody>
                  <a:tcPr>
                    <a:solidFill>
                      <a:srgbClr val="172541"/>
                    </a:solidFill>
                  </a:tcPr>
                </a:tc>
              </a:tr>
              <a:tr h="287382">
                <a:tc>
                  <a:txBody>
                    <a:bodyPr/>
                    <a:lstStyle/>
                    <a:p>
                      <a:pPr algn="ctr">
                        <a:defRPr sz="950">
                          <a:solidFill>
                            <a:srgbClr val="FBBF24"/>
                          </a:solidFill>
                          <a:latin typeface="Segoe UI"/>
                        </a:defRPr>
                      </a:pPr>
                      <a:r>
                        <a:t>P4</a:t>
                      </a:r>
                    </a:p>
                  </a:txBody>
                  <a:tcPr>
                    <a:solidFill>
                      <a:srgbClr val="172541"/>
                    </a:solidFill>
                  </a:tcPr>
                </a:tc>
                <a:tc>
                  <a:txBody>
                    <a:bodyPr/>
                    <a:lstStyle/>
                    <a:p>
                      <a:pPr algn="ctr">
                        <a:defRPr sz="950">
                          <a:solidFill>
                            <a:srgbClr val="FFFFFF"/>
                          </a:solidFill>
                          <a:latin typeface="Segoe UI"/>
                        </a:defRPr>
                      </a:pPr>
                      <a:r>
                        <a:t>6 ms</a:t>
                      </a:r>
                    </a:p>
                  </a:txBody>
                  <a:tcPr>
                    <a:solidFill>
                      <a:srgbClr val="172541"/>
                    </a:solidFill>
                  </a:tcPr>
                </a:tc>
                <a:tc>
                  <a:txBody>
                    <a:bodyPr/>
                    <a:lstStyle/>
                    <a:p>
                      <a:pPr algn="ctr">
                        <a:defRPr sz="950">
                          <a:solidFill>
                            <a:srgbClr val="FFFFFF"/>
                          </a:solidFill>
                          <a:latin typeface="Segoe UI"/>
                        </a:defRPr>
                      </a:pPr>
                      <a:r>
                        <a:t>5 ms</a:t>
                      </a:r>
                    </a:p>
                  </a:txBody>
                  <a:tcPr>
                    <a:solidFill>
                      <a:srgbClr val="172541"/>
                    </a:solidFill>
                  </a:tcPr>
                </a:tc>
                <a:tc>
                  <a:txBody>
                    <a:bodyPr/>
                    <a:lstStyle/>
                    <a:p>
                      <a:pPr algn="ctr">
                        <a:defRPr sz="950">
                          <a:solidFill>
                            <a:srgbClr val="FFFFFF"/>
                          </a:solidFill>
                          <a:latin typeface="Segoe UI"/>
                        </a:defRPr>
                      </a:pPr>
                      <a:r>
                        <a:t>2</a:t>
                      </a:r>
                    </a:p>
                  </a:txBody>
                  <a:tcPr>
                    <a:solidFill>
                      <a:srgbClr val="172541"/>
                    </a:solidFill>
                  </a:tcPr>
                </a:tc>
                <a:tc>
                  <a:txBody>
                    <a:bodyPr/>
                    <a:lstStyle/>
                    <a:p>
                      <a:pPr algn="ctr">
                        <a:defRPr sz="950">
                          <a:solidFill>
                            <a:srgbClr val="FFFFFF"/>
                          </a:solidFill>
                          <a:latin typeface="Segoe UI"/>
                        </a:defRPr>
                      </a:pPr>
                      <a:r>
                        <a:t>20 ms</a:t>
                      </a:r>
                    </a:p>
                  </a:txBody>
                  <a:tcPr>
                    <a:solidFill>
                      <a:srgbClr val="172541"/>
                    </a:solidFill>
                  </a:tcPr>
                </a:tc>
                <a:tc>
                  <a:txBody>
                    <a:bodyPr/>
                    <a:lstStyle/>
                    <a:p>
                      <a:pPr algn="ctr">
                        <a:defRPr sz="950">
                          <a:solidFill>
                            <a:srgbClr val="FFFFFF"/>
                          </a:solidFill>
                          <a:latin typeface="Segoe UI"/>
                        </a:defRPr>
                      </a:pPr>
                      <a:r>
                        <a:t>14 ms</a:t>
                      </a:r>
                    </a:p>
                  </a:txBody>
                  <a:tcPr>
                    <a:solidFill>
                      <a:srgbClr val="172541"/>
                    </a:solidFill>
                  </a:tcPr>
                </a:tc>
                <a:tc>
                  <a:txBody>
                    <a:bodyPr/>
                    <a:lstStyle/>
                    <a:p>
                      <a:pPr algn="ctr">
                        <a:defRPr sz="950">
                          <a:solidFill>
                            <a:srgbClr val="FFFFFF"/>
                          </a:solidFill>
                          <a:latin typeface="Segoe UI"/>
                        </a:defRPr>
                      </a:pPr>
                      <a:r>
                        <a:t>9 ms</a:t>
                      </a:r>
                    </a:p>
                  </a:txBody>
                  <a:tcPr>
                    <a:solidFill>
                      <a:srgbClr val="172541"/>
                    </a:solidFill>
                  </a:tcPr>
                </a:tc>
                <a:tc>
                  <a:txBody>
                    <a:bodyPr/>
                    <a:lstStyle/>
                    <a:p>
                      <a:pPr algn="ctr">
                        <a:defRPr sz="950">
                          <a:solidFill>
                            <a:srgbClr val="FFFFFF"/>
                          </a:solidFill>
                          <a:latin typeface="Segoe UI"/>
                        </a:defRPr>
                      </a:pPr>
                      <a:r>
                        <a:t>Done</a:t>
                      </a:r>
                    </a:p>
                  </a:txBody>
                  <a:tcPr>
                    <a:solidFill>
                      <a:srgbClr val="172541"/>
                    </a:solidFill>
                  </a:tcPr>
                </a:tc>
              </a:tr>
              <a:tr h="287382">
                <a:tc>
                  <a:txBody>
                    <a:bodyPr/>
                    <a:lstStyle/>
                    <a:p>
                      <a:pPr algn="ctr">
                        <a:defRPr sz="950">
                          <a:solidFill>
                            <a:srgbClr val="FBBF24"/>
                          </a:solidFill>
                          <a:latin typeface="Segoe UI"/>
                        </a:defRPr>
                      </a:pPr>
                      <a:r>
                        <a:t>P5</a:t>
                      </a:r>
                    </a:p>
                  </a:txBody>
                  <a:tcPr>
                    <a:solidFill>
                      <a:srgbClr val="172541"/>
                    </a:solidFill>
                  </a:tcPr>
                </a:tc>
                <a:tc>
                  <a:txBody>
                    <a:bodyPr/>
                    <a:lstStyle/>
                    <a:p>
                      <a:pPr algn="ctr">
                        <a:defRPr sz="950">
                          <a:solidFill>
                            <a:srgbClr val="FFFFFF"/>
                          </a:solidFill>
                          <a:latin typeface="Segoe UI"/>
                        </a:defRPr>
                      </a:pPr>
                      <a:r>
                        <a:t>8 ms</a:t>
                      </a:r>
                    </a:p>
                  </a:txBody>
                  <a:tcPr>
                    <a:solidFill>
                      <a:srgbClr val="172541"/>
                    </a:solidFill>
                  </a:tcPr>
                </a:tc>
                <a:tc>
                  <a:txBody>
                    <a:bodyPr/>
                    <a:lstStyle/>
                    <a:p>
                      <a:pPr algn="ctr">
                        <a:defRPr sz="950">
                          <a:solidFill>
                            <a:srgbClr val="FFFFFF"/>
                          </a:solidFill>
                          <a:latin typeface="Segoe UI"/>
                        </a:defRPr>
                      </a:pPr>
                      <a:r>
                        <a:t>2 ms</a:t>
                      </a:r>
                    </a:p>
                  </a:txBody>
                  <a:tcPr>
                    <a:solidFill>
                      <a:srgbClr val="172541"/>
                    </a:solidFill>
                  </a:tcPr>
                </a:tc>
                <a:tc>
                  <a:txBody>
                    <a:bodyPr/>
                    <a:lstStyle/>
                    <a:p>
                      <a:pPr algn="ctr">
                        <a:defRPr sz="950">
                          <a:solidFill>
                            <a:srgbClr val="FFFFFF"/>
                          </a:solidFill>
                          <a:latin typeface="Segoe UI"/>
                        </a:defRPr>
                      </a:pPr>
                      <a:r>
                        <a:t>5</a:t>
                      </a:r>
                    </a:p>
                  </a:txBody>
                  <a:tcPr>
                    <a:solidFill>
                      <a:srgbClr val="172541"/>
                    </a:solidFill>
                  </a:tcPr>
                </a:tc>
                <a:tc>
                  <a:txBody>
                    <a:bodyPr/>
                    <a:lstStyle/>
                    <a:p>
                      <a:pPr algn="ctr">
                        <a:defRPr sz="950">
                          <a:solidFill>
                            <a:srgbClr val="FFFFFF"/>
                          </a:solidFill>
                          <a:latin typeface="Segoe UI"/>
                        </a:defRPr>
                      </a:pPr>
                      <a:r>
                        <a:t>10 ms</a:t>
                      </a:r>
                    </a:p>
                  </a:txBody>
                  <a:tcPr>
                    <a:solidFill>
                      <a:srgbClr val="172541"/>
                    </a:solidFill>
                  </a:tcPr>
                </a:tc>
                <a:tc>
                  <a:txBody>
                    <a:bodyPr/>
                    <a:lstStyle/>
                    <a:p>
                      <a:pPr algn="ctr">
                        <a:defRPr sz="950">
                          <a:solidFill>
                            <a:srgbClr val="FFFFFF"/>
                          </a:solidFill>
                          <a:latin typeface="Segoe UI"/>
                        </a:defRPr>
                      </a:pPr>
                      <a:r>
                        <a:t>2 ms</a:t>
                      </a:r>
                    </a:p>
                  </a:txBody>
                  <a:tcPr>
                    <a:solidFill>
                      <a:srgbClr val="172541"/>
                    </a:solidFill>
                  </a:tcPr>
                </a:tc>
                <a:tc>
                  <a:txBody>
                    <a:bodyPr/>
                    <a:lstStyle/>
                    <a:p>
                      <a:pPr algn="ctr">
                        <a:defRPr sz="950">
                          <a:solidFill>
                            <a:srgbClr val="FFFFFF"/>
                          </a:solidFill>
                          <a:latin typeface="Segoe UI"/>
                        </a:defRPr>
                      </a:pPr>
                      <a:r>
                        <a:t>0 ms</a:t>
                      </a:r>
                    </a:p>
                  </a:txBody>
                  <a:tcPr>
                    <a:solidFill>
                      <a:srgbClr val="172541"/>
                    </a:solidFill>
                  </a:tcPr>
                </a:tc>
                <a:tc>
                  <a:txBody>
                    <a:bodyPr/>
                    <a:lstStyle/>
                    <a:p>
                      <a:pPr algn="ctr">
                        <a:defRPr sz="950">
                          <a:solidFill>
                            <a:srgbClr val="FFFFFF"/>
                          </a:solidFill>
                          <a:latin typeface="Segoe UI"/>
                        </a:defRPr>
                      </a:pPr>
                      <a:r>
                        <a:t>Done</a:t>
                      </a:r>
                    </a:p>
                  </a:txBody>
                  <a:tcPr>
                    <a:solidFill>
                      <a:srgbClr val="172541"/>
                    </a:solidFill>
                  </a:tcPr>
                </a:tc>
              </a:tr>
              <a:tr h="287388">
                <a:tc>
                  <a:txBody>
                    <a:bodyPr/>
                    <a:lstStyle/>
                    <a:p>
                      <a:pPr algn="ctr">
                        <a:defRPr sz="950" b="1">
                          <a:solidFill>
                            <a:srgbClr val="FFFFFF"/>
                          </a:solidFill>
                          <a:latin typeface="Segoe UI"/>
                        </a:defRPr>
                      </a:pPr>
                      <a:r>
                        <a:t>Average</a:t>
                      </a:r>
                    </a:p>
                  </a:txBody>
                  <a:tcPr>
                    <a:solidFill>
                      <a:srgbClr val="102C28"/>
                    </a:solidFill>
                  </a:tcPr>
                </a:tc>
                <a:tc>
                  <a:txBody>
                    <a:bodyPr/>
                    <a:lstStyle/>
                    <a:p>
                      <a:pPr algn="ctr">
                        <a:defRPr sz="950" b="1">
                          <a:solidFill>
                            <a:srgbClr val="FFFFFF"/>
                          </a:solidFill>
                          <a:latin typeface="Segoe UI"/>
                        </a:defRPr>
                      </a:pPr>
                      <a:r>
                        <a:t> - </a:t>
                      </a:r>
                    </a:p>
                  </a:txBody>
                  <a:tcPr>
                    <a:solidFill>
                      <a:srgbClr val="102C28"/>
                    </a:solidFill>
                  </a:tcPr>
                </a:tc>
                <a:tc>
                  <a:txBody>
                    <a:bodyPr/>
                    <a:lstStyle/>
                    <a:p>
                      <a:pPr algn="ctr">
                        <a:defRPr sz="950" b="1">
                          <a:solidFill>
                            <a:srgbClr val="FFFFFF"/>
                          </a:solidFill>
                          <a:latin typeface="Segoe UI"/>
                        </a:defRPr>
                      </a:pPr>
                      <a:r>
                        <a:t> - </a:t>
                      </a:r>
                    </a:p>
                  </a:txBody>
                  <a:tcPr>
                    <a:solidFill>
                      <a:srgbClr val="102C28"/>
                    </a:solidFill>
                  </a:tcPr>
                </a:tc>
                <a:tc>
                  <a:txBody>
                    <a:bodyPr/>
                    <a:lstStyle/>
                    <a:p>
                      <a:pPr algn="ctr">
                        <a:defRPr sz="950" b="1">
                          <a:solidFill>
                            <a:srgbClr val="FFFFFF"/>
                          </a:solidFill>
                          <a:latin typeface="Segoe UI"/>
                        </a:defRPr>
                      </a:pPr>
                      <a:r>
                        <a:t> - </a:t>
                      </a:r>
                    </a:p>
                  </a:txBody>
                  <a:tcPr>
                    <a:solidFill>
                      <a:srgbClr val="102C28"/>
                    </a:solidFill>
                  </a:tcPr>
                </a:tc>
                <a:tc>
                  <a:txBody>
                    <a:bodyPr/>
                    <a:lstStyle/>
                    <a:p>
                      <a:pPr algn="ctr">
                        <a:defRPr sz="950" b="1">
                          <a:solidFill>
                            <a:srgbClr val="FFFFFF"/>
                          </a:solidFill>
                          <a:latin typeface="Segoe UI"/>
                        </a:defRPr>
                      </a:pPr>
                      <a:r>
                        <a:t> - </a:t>
                      </a:r>
                    </a:p>
                  </a:txBody>
                  <a:tcPr>
                    <a:solidFill>
                      <a:srgbClr val="102C28"/>
                    </a:solidFill>
                  </a:tcPr>
                </a:tc>
                <a:tc>
                  <a:txBody>
                    <a:bodyPr/>
                    <a:lstStyle/>
                    <a:p>
                      <a:pPr algn="ctr">
                        <a:defRPr sz="950" b="1">
                          <a:solidFill>
                            <a:srgbClr val="34D399"/>
                          </a:solidFill>
                          <a:latin typeface="Segoe UI"/>
                        </a:defRPr>
                      </a:pPr>
                      <a:r>
                        <a:t>8.20 ms</a:t>
                      </a:r>
                    </a:p>
                  </a:txBody>
                  <a:tcPr>
                    <a:solidFill>
                      <a:srgbClr val="102C28"/>
                    </a:solidFill>
                  </a:tcPr>
                </a:tc>
                <a:tc>
                  <a:txBody>
                    <a:bodyPr/>
                    <a:lstStyle/>
                    <a:p>
                      <a:pPr algn="ctr">
                        <a:defRPr sz="950" b="1">
                          <a:solidFill>
                            <a:srgbClr val="34D399"/>
                          </a:solidFill>
                          <a:latin typeface="Segoe UI"/>
                        </a:defRPr>
                      </a:pPr>
                      <a:r>
                        <a:t>4.20 ms</a:t>
                      </a:r>
                    </a:p>
                  </a:txBody>
                  <a:tcPr>
                    <a:solidFill>
                      <a:srgbClr val="102C28"/>
                    </a:solidFill>
                  </a:tcPr>
                </a:tc>
                <a:tc>
                  <a:txBody>
                    <a:bodyPr/>
                    <a:lstStyle/>
                    <a:p>
                      <a:pPr algn="ctr">
                        <a:defRPr sz="950" b="1">
                          <a:solidFill>
                            <a:srgbClr val="34D399"/>
                          </a:solidFill>
                          <a:latin typeface="Segoe UI"/>
                        </a:defRPr>
                      </a:pPr>
                      <a:r>
                        <a:t>OPTIMAL</a:t>
                      </a:r>
                    </a:p>
                  </a:txBody>
                  <a:tcPr>
                    <a:solidFill>
                      <a:srgbClr val="102C2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2: JATIN JOGALE (ROLL NO: 04)  -  PAGE 5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Interactive Gantt Visualization, Preemption Tracking &amp; Viva Defense</a:t>
            </a:r>
          </a:p>
          <a:p>
            <a:pPr>
              <a:defRPr sz="1100">
                <a:solidFill>
                  <a:srgbClr val="94A3B8"/>
                </a:solidFill>
                <a:latin typeface="Segoe UI"/>
              </a:defRPr>
            </a:pPr>
            <a:r>
              <a:t>Ownership: Dynamic SVG timeline generator, real-time preemption callouts, and multi-algorithm comparative analysis</a:t>
            </a:r>
          </a:p>
        </p:txBody>
      </p:sp>
      <p:sp>
        <p:nvSpPr>
          <p:cNvPr id="5" name="Rounded Rectangle 4"/>
          <p:cNvSpPr/>
          <p:nvPr/>
        </p:nvSpPr>
        <p:spPr>
          <a:xfrm>
            <a:off x="731520" y="1645920"/>
            <a:ext cx="512064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38BDF8"/>
                </a:solidFill>
                <a:latin typeface="Segoe UI"/>
              </a:defRPr>
            </a:pPr>
            <a:r>
              <a:t>DYNAMIC GANTT TIMELINE &amp; PREEMPTION TRACKER</a:t>
            </a:r>
          </a:p>
          <a:p>
            <a:pPr>
              <a:spcAft>
                <a:spcPts val="600"/>
              </a:spcAft>
            </a:pPr>
            <a:r>
              <a:rPr sz="1050" b="1">
                <a:solidFill>
                  <a:srgbClr val="FFFFFF"/>
                </a:solidFill>
                <a:latin typeface="Segoe UI"/>
              </a:rPr>
              <a:t>▪ Dynamic Proportional Slicing  -  </a:t>
            </a:r>
            <a:r>
              <a:rPr sz="1000">
                <a:solidFill>
                  <a:srgbClr val="94A3B8"/>
                </a:solidFill>
                <a:latin typeface="Segoe UI"/>
              </a:rPr>
              <a:t>SVG segments sized proportionally to duration: Width (%) = (t_end - t_start) / T_total × 100.</a:t>
            </a:r>
          </a:p>
          <a:p>
            <a:pPr>
              <a:spcAft>
                <a:spcPts val="800"/>
              </a:spcAft>
              <a:defRPr sz="900">
                <a:solidFill>
                  <a:srgbClr val="FBBF24"/>
                </a:solidFill>
                <a:latin typeface="Consolas"/>
              </a:defRPr>
            </a:pPr>
            <a:r>
              <a:t>Gantt Execution Trace (SRTF):</a:t>
            </a:r>
            <a:br/>
            <a:r>
              <a:t>P1 [0–3 ms] -&gt; P2 [3–4 ms] -&gt; P3 [4–8 ms] -&gt; P5 [8–10 ms] -&gt; P2 [10–15 ms] -&gt; P4 [15–20 ms]</a:t>
            </a:r>
          </a:p>
          <a:p>
            <a:pPr>
              <a:spcAft>
                <a:spcPts val="600"/>
              </a:spcAft>
            </a:pPr>
            <a:r>
              <a:rPr sz="1050" b="1">
                <a:solidFill>
                  <a:srgbClr val="FFFFFF"/>
                </a:solidFill>
                <a:latin typeface="Segoe UI"/>
              </a:rPr>
              <a:t>▪ Discrete Preemption Event 1 (t = 4 ms)  -  </a:t>
            </a:r>
            <a:r>
              <a:rPr sz="1000">
                <a:solidFill>
                  <a:srgbClr val="94A3B8"/>
                </a:solidFill>
                <a:latin typeface="Segoe UI"/>
              </a:rPr>
              <a:t>Arriving process P3 (BT=4ms) preempts executing P2 (BT_rem=5ms). P2 pushed to ready queue.</a:t>
            </a:r>
          </a:p>
          <a:p>
            <a:pPr>
              <a:spcAft>
                <a:spcPts val="600"/>
              </a:spcAft>
            </a:pPr>
            <a:r>
              <a:rPr sz="1050" b="1">
                <a:solidFill>
                  <a:srgbClr val="FFFFFF"/>
                </a:solidFill>
                <a:latin typeface="Segoe UI"/>
              </a:rPr>
              <a:t>▪ Discrete Preemption Event 2 (t = 8 ms)  -  </a:t>
            </a:r>
            <a:r>
              <a:rPr sz="1000">
                <a:solidFill>
                  <a:srgbClr val="94A3B8"/>
                </a:solidFill>
                <a:latin typeface="Segoe UI"/>
              </a:rPr>
              <a:t>Arriving process P5 (BT=2ms) preempts resumed P2 (BT_rem=5ms). P5 dispatches immediately.</a:t>
            </a:r>
          </a:p>
          <a:p>
            <a:pPr>
              <a:spcAft>
                <a:spcPts val="600"/>
              </a:spcAft>
            </a:pPr>
            <a:r>
              <a:rPr sz="1050" b="1">
                <a:solidFill>
                  <a:srgbClr val="FFFFFF"/>
                </a:solidFill>
                <a:latin typeface="Segoe UI"/>
              </a:rPr>
              <a:t>▪ Ready Queue Snapshot at t = 8 ms  -  </a:t>
            </a:r>
            <a:r>
              <a:rPr sz="1000">
                <a:solidFill>
                  <a:srgbClr val="94A3B8"/>
                </a:solidFill>
                <a:latin typeface="Segoe UI"/>
              </a:rPr>
              <a:t>Active: P5 (2ms rem) -&gt; Queue: [P2 (5ms rem), P4 (5ms rem)]. Zero-latency queue state updates.</a:t>
            </a:r>
          </a:p>
          <a:p>
            <a:pPr>
              <a:spcAft>
                <a:spcPts val="600"/>
              </a:spcAft>
            </a:pPr>
            <a:r>
              <a:rPr sz="1050" b="1">
                <a:solidFill>
                  <a:srgbClr val="FFFFFF"/>
                </a:solidFill>
                <a:latin typeface="Segoe UI"/>
              </a:rPr>
              <a:t>▪ Empirical Policy Comparison  -  </a:t>
            </a:r>
            <a:r>
              <a:rPr sz="1000">
                <a:solidFill>
                  <a:srgbClr val="94A3B8"/>
                </a:solidFill>
                <a:latin typeface="Segoe UI"/>
              </a:rPr>
              <a:t>SRTF AWT: 4.20 ms | SJF: 4.60 ms | Priority: 5.20 ms | FCFS: 6.80 ms | Round Robin (q=2): 7.40 ms (Context switch penalty).</a:t>
            </a:r>
          </a:p>
        </p:txBody>
      </p:sp>
      <p:sp>
        <p:nvSpPr>
          <p:cNvPr id="6" name="Rounded Rectangle 5"/>
          <p:cNvSpPr/>
          <p:nvPr/>
        </p:nvSpPr>
        <p:spPr>
          <a:xfrm>
            <a:off x="6126480" y="1645920"/>
            <a:ext cx="530352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818CF8"/>
                </a:solidFill>
                <a:latin typeface="Segoe UI"/>
              </a:defRPr>
            </a:pPr>
            <a:r>
              <a:t>ORAL TECHNICAL VIVA VOCE DEFENSE (MEMBER 2)</a:t>
            </a:r>
          </a:p>
          <a:p>
            <a:pPr>
              <a:spcAft>
                <a:spcPts val="600"/>
              </a:spcAft>
            </a:pPr>
            <a:r>
              <a:rPr sz="1050" b="1">
                <a:solidFill>
                  <a:srgbClr val="FFFFFF"/>
                </a:solidFill>
                <a:latin typeface="Segoe UI"/>
              </a:rPr>
              <a:t>▪ Q1: Prove why SRTF minimizes Average Waiting Time, and state its limitation.</a:t>
            </a:r>
          </a:p>
          <a:p>
            <a:pPr>
              <a:spcAft>
                <a:spcPts val="800"/>
              </a:spcAft>
              <a:defRPr sz="950">
                <a:solidFill>
                  <a:srgbClr val="94A3B8"/>
                </a:solidFill>
                <a:latin typeface="Segoe UI"/>
              </a:defRPr>
            </a:pPr>
            <a:r>
              <a:t>Ans: By the greedy exchange argument, scheduling a process with shorter remaining burst ahead of a longer one decreases the shorter job's wait time by the duration of swap while increasing the longer job's wait time equally; however, all subsequent waiting jobs benefit, strictly reducing cumulative sum Σ WT_i. The primary weakness is Starvation of long jobs under continuous short job arrivals, mitigated by aging in production OS.</a:t>
            </a:r>
          </a:p>
          <a:p>
            <a:pPr>
              <a:spcAft>
                <a:spcPts val="600"/>
              </a:spcAft>
            </a:pPr>
            <a:r>
              <a:rPr sz="1050" b="1">
                <a:solidFill>
                  <a:srgbClr val="FFFFFF"/>
                </a:solidFill>
                <a:latin typeface="Segoe UI"/>
              </a:rPr>
              <a:t>▪ Q2: What is the effect of Round Robin time quantum (q)?</a:t>
            </a:r>
          </a:p>
          <a:p>
            <a:pPr>
              <a:spcAft>
                <a:spcPts val="800"/>
              </a:spcAft>
              <a:defRPr sz="950">
                <a:solidFill>
                  <a:srgbClr val="94A3B8"/>
                </a:solidFill>
                <a:latin typeface="Segoe UI"/>
              </a:defRPr>
            </a:pPr>
            <a:r>
              <a:t>Ans: If q is extremely large (q &gt;= max(BT)), RR degenerates into FCFS with convoy issues. If q approaches 0, CPU cycles are consumed almost entirely by context-switching overhead (saving registers, cache thrashing), crashing throughput. Optimal rule of thumb: 80% of CPU bursts should complete within a single quantum.</a:t>
            </a:r>
          </a:p>
          <a:p>
            <a:pPr>
              <a:spcAft>
                <a:spcPts val="600"/>
              </a:spcAft>
            </a:pPr>
            <a:r>
              <a:rPr sz="1050" b="1">
                <a:solidFill>
                  <a:srgbClr val="FFFFFF"/>
                </a:solidFill>
                <a:latin typeface="Segoe UI"/>
              </a:rPr>
              <a:t>▪ Q3: How does the engine compute preemption without UI freezes?</a:t>
            </a:r>
          </a:p>
          <a:p>
            <a:pPr>
              <a:defRPr sz="950">
                <a:solidFill>
                  <a:srgbClr val="94A3B8"/>
                </a:solidFill>
                <a:latin typeface="Segoe UI"/>
              </a:defRPr>
            </a:pPr>
            <a:r>
              <a:t>Ans: Utilizes a discrete-event clock simulator rather than real-time setTimeout polling. At each event tick, the remaining burst comparison executes in O(1) time, returning the complete simulation in &lt;1ms.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3: SWANAND MORE (ROLL NO: 43)  -  PAGE 6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Contiguous Memory Dynamic Partitioning &amp; Compaction Engine</a:t>
            </a:r>
          </a:p>
          <a:p>
            <a:pPr>
              <a:defRPr sz="1100">
                <a:solidFill>
                  <a:srgbClr val="94A3B8"/>
                </a:solidFill>
                <a:latin typeface="Segoe UI"/>
              </a:defRPr>
            </a:pPr>
            <a:r>
              <a:t>Ownership: First/Best/Worst Fit solvers, adjacent hole coalescing, internal/external fragmentation tracking &amp; compaction</a:t>
            </a:r>
          </a:p>
        </p:txBody>
      </p:sp>
      <p:sp>
        <p:nvSpPr>
          <p:cNvPr id="5" name="Rounded Rectangle 4"/>
          <p:cNvSpPr/>
          <p:nvPr/>
        </p:nvSpPr>
        <p:spPr>
          <a:xfrm>
            <a:off x="731520" y="1645920"/>
            <a:ext cx="3383280" cy="21031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38BDF8"/>
                </a:solidFill>
                <a:latin typeface="Segoe UI"/>
              </a:defRPr>
            </a:pPr>
            <a:r>
              <a:t>FIRST FIT ALLOCATION</a:t>
            </a:r>
          </a:p>
          <a:p>
            <a:pPr>
              <a:spcAft>
                <a:spcPts val="600"/>
              </a:spcAft>
            </a:pPr>
            <a:r>
              <a:rPr sz="1050" b="1">
                <a:solidFill>
                  <a:srgbClr val="FFFFFF"/>
                </a:solidFill>
                <a:latin typeface="Segoe UI"/>
              </a:rPr>
              <a:t>▪ Mechanism  -  </a:t>
            </a:r>
            <a:r>
              <a:rPr sz="1000">
                <a:solidFill>
                  <a:srgbClr val="94A3B8"/>
                </a:solidFill>
                <a:latin typeface="Segoe UI"/>
              </a:rPr>
              <a:t>Scans partition list from base 0 KB; allocates into first hole where Size(H_j) &gt;= S_k.</a:t>
            </a:r>
          </a:p>
          <a:p>
            <a:pPr>
              <a:spcAft>
                <a:spcPts val="600"/>
              </a:spcAft>
            </a:pPr>
            <a:r>
              <a:rPr sz="1050" b="1">
                <a:solidFill>
                  <a:srgbClr val="FFFFFF"/>
                </a:solidFill>
                <a:latin typeface="Segoe UI"/>
              </a:rPr>
              <a:t>▪ Characteristics  -  </a:t>
            </a:r>
            <a:r>
              <a:rPr sz="1000">
                <a:solidFill>
                  <a:srgbClr val="94A3B8"/>
                </a:solidFill>
                <a:latin typeface="Segoe UI"/>
              </a:rPr>
              <a:t>Fastest search O(n); clusters smaller fragments near base of physical memory.</a:t>
            </a:r>
          </a:p>
        </p:txBody>
      </p:sp>
      <p:sp>
        <p:nvSpPr>
          <p:cNvPr id="6" name="Rounded Rectangle 5"/>
          <p:cNvSpPr/>
          <p:nvPr/>
        </p:nvSpPr>
        <p:spPr>
          <a:xfrm>
            <a:off x="4389120" y="1645920"/>
            <a:ext cx="3474720" cy="21031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818CF8"/>
                </a:solidFill>
                <a:latin typeface="Segoe UI"/>
              </a:defRPr>
            </a:pPr>
            <a:r>
              <a:t>BEST FIT ALLOCATION</a:t>
            </a:r>
          </a:p>
          <a:p>
            <a:pPr>
              <a:spcAft>
                <a:spcPts val="600"/>
              </a:spcAft>
            </a:pPr>
            <a:r>
              <a:rPr sz="1050" b="1">
                <a:solidFill>
                  <a:srgbClr val="FFFFFF"/>
                </a:solidFill>
                <a:latin typeface="Segoe UI"/>
              </a:rPr>
              <a:t>▪ Mechanism  -  </a:t>
            </a:r>
            <a:r>
              <a:rPr sz="1000">
                <a:solidFill>
                  <a:srgbClr val="94A3B8"/>
                </a:solidFill>
                <a:latin typeface="Segoe UI"/>
              </a:rPr>
              <a:t>Searches all free holes; selects H_best = argmin (Size(H_j) - S_k) such that Size(H_j) &gt;= S_k.</a:t>
            </a:r>
          </a:p>
          <a:p>
            <a:pPr>
              <a:spcAft>
                <a:spcPts val="600"/>
              </a:spcAft>
            </a:pPr>
            <a:r>
              <a:rPr sz="1050" b="1">
                <a:solidFill>
                  <a:srgbClr val="FFFFFF"/>
                </a:solidFill>
                <a:latin typeface="Segoe UI"/>
              </a:rPr>
              <a:t>▪ Characteristics  -  </a:t>
            </a:r>
            <a:r>
              <a:rPr sz="1000">
                <a:solidFill>
                  <a:srgbClr val="94A3B8"/>
                </a:solidFill>
                <a:latin typeface="Segoe UI"/>
              </a:rPr>
              <a:t>Minimizes leftover block space; creates tiny, unusable 'shredded memory' fragments.</a:t>
            </a:r>
          </a:p>
        </p:txBody>
      </p:sp>
      <p:sp>
        <p:nvSpPr>
          <p:cNvPr id="7" name="Rounded Rectangle 6"/>
          <p:cNvSpPr/>
          <p:nvPr/>
        </p:nvSpPr>
        <p:spPr>
          <a:xfrm>
            <a:off x="8138160" y="1645920"/>
            <a:ext cx="3322015" cy="21031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10B981"/>
                </a:solidFill>
                <a:latin typeface="Segoe UI"/>
              </a:defRPr>
            </a:pPr>
            <a:r>
              <a:t>WORST FIT &amp; COMPACTION</a:t>
            </a:r>
          </a:p>
          <a:p>
            <a:pPr>
              <a:spcAft>
                <a:spcPts val="600"/>
              </a:spcAft>
            </a:pPr>
            <a:r>
              <a:rPr sz="1050" b="1">
                <a:solidFill>
                  <a:srgbClr val="FFFFFF"/>
                </a:solidFill>
                <a:latin typeface="Segoe UI"/>
              </a:rPr>
              <a:t>▪ Worst Fit  -  </a:t>
            </a:r>
            <a:r>
              <a:rPr sz="1000">
                <a:solidFill>
                  <a:srgbClr val="94A3B8"/>
                </a:solidFill>
                <a:latin typeface="Segoe UI"/>
              </a:rPr>
              <a:t>Allocates into largest available hole argmax(Size(H_j)), leaving large residual spaces.</a:t>
            </a:r>
          </a:p>
          <a:p>
            <a:pPr>
              <a:spcAft>
                <a:spcPts val="600"/>
              </a:spcAft>
            </a:pPr>
            <a:r>
              <a:rPr sz="1050" b="1">
                <a:solidFill>
                  <a:srgbClr val="FFFFFF"/>
                </a:solidFill>
                <a:latin typeface="Segoe UI"/>
              </a:rPr>
              <a:t>▪ Hole Coalescing  -  </a:t>
            </a:r>
            <a:r>
              <a:rPr sz="1000">
                <a:solidFill>
                  <a:srgbClr val="94A3B8"/>
                </a:solidFill>
                <a:latin typeface="Segoe UI"/>
              </a:rPr>
              <a:t>Merges adjacent free holes automatically: Size(H_merged) = Size(H_1) + Size(H_2).</a:t>
            </a:r>
          </a:p>
          <a:p>
            <a:pPr>
              <a:spcAft>
                <a:spcPts val="600"/>
              </a:spcAft>
            </a:pPr>
            <a:r>
              <a:rPr sz="1050" b="1">
                <a:solidFill>
                  <a:srgbClr val="FFFFFF"/>
                </a:solidFill>
                <a:latin typeface="Segoe UI"/>
              </a:rPr>
              <a:t>▪ Memory Compaction  -  </a:t>
            </a:r>
            <a:r>
              <a:rPr sz="1000">
                <a:solidFill>
                  <a:srgbClr val="94A3B8"/>
                </a:solidFill>
                <a:latin typeface="Segoe UI"/>
              </a:rPr>
              <a:t>Relocates all active processes down to base 0 KB, consolidating all scattered holes into one continuous free block.</a:t>
            </a:r>
          </a:p>
        </p:txBody>
      </p:sp>
      <p:sp>
        <p:nvSpPr>
          <p:cNvPr id="8" name="TextBox 7"/>
          <p:cNvSpPr txBox="1"/>
          <p:nvPr/>
        </p:nvSpPr>
        <p:spPr>
          <a:xfrm>
            <a:off x="731520" y="3840480"/>
            <a:ext cx="10728655" cy="320040"/>
          </a:xfrm>
          <a:prstGeom prst="rect">
            <a:avLst/>
          </a:prstGeom>
          <a:noFill/>
        </p:spPr>
        <p:txBody>
          <a:bodyPr wrap="none">
            <a:spAutoFit/>
          </a:bodyPr>
          <a:lstStyle/>
          <a:p>
            <a:pPr>
              <a:defRPr sz="1100" b="1">
                <a:solidFill>
                  <a:srgbClr val="FBBF24"/>
                </a:solidFill>
                <a:latin typeface="Segoe UI"/>
              </a:defRPr>
            </a:pPr>
            <a:r>
              <a:t>PHYSICAL MEMORY PARTITION STATUS TABLE (BASELINE 1700 KB WORKLOAD)</a:t>
            </a:r>
          </a:p>
        </p:txBody>
      </p:sp>
      <p:graphicFrame>
        <p:nvGraphicFramePr>
          <p:cNvPr id="9" name="Table 8"/>
          <p:cNvGraphicFramePr>
            <a:graphicFrameLocks noGrp="1"/>
          </p:cNvGraphicFramePr>
          <p:nvPr/>
        </p:nvGraphicFramePr>
        <p:xfrm>
          <a:off x="731520" y="4206240"/>
          <a:ext cx="10728655" cy="2011680"/>
        </p:xfrm>
        <a:graphic>
          <a:graphicData uri="http://schemas.openxmlformats.org/drawingml/2006/table">
            <a:tbl>
              <a:tblPr firstRow="1" bandRow="1">
                <a:tableStyleId>{5C22544A-7EE6-4342-B048-85BDC9FD1C3A}</a:tableStyleId>
              </a:tblPr>
              <a:tblGrid>
                <a:gridCol w="1280160"/>
                <a:gridCol w="1371600"/>
                <a:gridCol w="1371600"/>
                <a:gridCol w="1371600"/>
                <a:gridCol w="1371600"/>
                <a:gridCol w="1645920"/>
                <a:gridCol w="2316175"/>
              </a:tblGrid>
              <a:tr h="287382">
                <a:tc>
                  <a:txBody>
                    <a:bodyPr/>
                    <a:lstStyle/>
                    <a:p>
                      <a:pPr algn="ctr">
                        <a:defRPr sz="1000" b="1">
                          <a:solidFill>
                            <a:srgbClr val="38BDF8"/>
                          </a:solidFill>
                          <a:latin typeface="Segoe UI"/>
                        </a:defRPr>
                      </a:pPr>
                      <a:r>
                        <a:t>Partition</a:t>
                      </a:r>
                    </a:p>
                  </a:txBody>
                  <a:tcPr>
                    <a:solidFill>
                      <a:srgbClr val="0F172A"/>
                    </a:solidFill>
                  </a:tcPr>
                </a:tc>
                <a:tc>
                  <a:txBody>
                    <a:bodyPr/>
                    <a:lstStyle/>
                    <a:p>
                      <a:pPr algn="ctr">
                        <a:defRPr sz="1000" b="1">
                          <a:solidFill>
                            <a:srgbClr val="38BDF8"/>
                          </a:solidFill>
                          <a:latin typeface="Segoe UI"/>
                        </a:defRPr>
                      </a:pPr>
                      <a:r>
                        <a:t>Base Address</a:t>
                      </a:r>
                    </a:p>
                  </a:txBody>
                  <a:tcPr>
                    <a:solidFill>
                      <a:srgbClr val="0F172A"/>
                    </a:solidFill>
                  </a:tcPr>
                </a:tc>
                <a:tc>
                  <a:txBody>
                    <a:bodyPr/>
                    <a:lstStyle/>
                    <a:p>
                      <a:pPr algn="ctr">
                        <a:defRPr sz="1000" b="1">
                          <a:solidFill>
                            <a:srgbClr val="38BDF8"/>
                          </a:solidFill>
                          <a:latin typeface="Segoe UI"/>
                        </a:defRPr>
                      </a:pPr>
                      <a:r>
                        <a:t>Block Size</a:t>
                      </a:r>
                    </a:p>
                  </a:txBody>
                  <a:tcPr>
                    <a:solidFill>
                      <a:srgbClr val="0F172A"/>
                    </a:solidFill>
                  </a:tcPr>
                </a:tc>
                <a:tc>
                  <a:txBody>
                    <a:bodyPr/>
                    <a:lstStyle/>
                    <a:p>
                      <a:pPr algn="ctr">
                        <a:defRPr sz="1000" b="1">
                          <a:solidFill>
                            <a:srgbClr val="38BDF8"/>
                          </a:solidFill>
                          <a:latin typeface="Segoe UI"/>
                        </a:defRPr>
                      </a:pPr>
                      <a:r>
                        <a:t>Occupant</a:t>
                      </a:r>
                    </a:p>
                  </a:txBody>
                  <a:tcPr>
                    <a:solidFill>
                      <a:srgbClr val="0F172A"/>
                    </a:solidFill>
                  </a:tcPr>
                </a:tc>
                <a:tc>
                  <a:txBody>
                    <a:bodyPr/>
                    <a:lstStyle/>
                    <a:p>
                      <a:pPr algn="ctr">
                        <a:defRPr sz="1000" b="1">
                          <a:solidFill>
                            <a:srgbClr val="38BDF8"/>
                          </a:solidFill>
                          <a:latin typeface="Segoe UI"/>
                        </a:defRPr>
                      </a:pPr>
                      <a:r>
                        <a:t>Used Size</a:t>
                      </a:r>
                    </a:p>
                  </a:txBody>
                  <a:tcPr>
                    <a:solidFill>
                      <a:srgbClr val="0F172A"/>
                    </a:solidFill>
                  </a:tcPr>
                </a:tc>
                <a:tc>
                  <a:txBody>
                    <a:bodyPr/>
                    <a:lstStyle/>
                    <a:p>
                      <a:pPr algn="ctr">
                        <a:defRPr sz="1000" b="1">
                          <a:solidFill>
                            <a:srgbClr val="38BDF8"/>
                          </a:solidFill>
                          <a:latin typeface="Segoe UI"/>
                        </a:defRPr>
                      </a:pPr>
                      <a:r>
                        <a:t>Internal Frag</a:t>
                      </a:r>
                    </a:p>
                  </a:txBody>
                  <a:tcPr>
                    <a:solidFill>
                      <a:srgbClr val="0F172A"/>
                    </a:solidFill>
                  </a:tcPr>
                </a:tc>
                <a:tc>
                  <a:txBody>
                    <a:bodyPr/>
                    <a:lstStyle/>
                    <a:p>
                      <a:pPr algn="ctr">
                        <a:defRPr sz="1000" b="1">
                          <a:solidFill>
                            <a:srgbClr val="38BDF8"/>
                          </a:solidFill>
                          <a:latin typeface="Segoe UI"/>
                        </a:defRPr>
                      </a:pPr>
                      <a:r>
                        <a:t>Allocation Status</a:t>
                      </a:r>
                    </a:p>
                  </a:txBody>
                  <a:tcPr>
                    <a:solidFill>
                      <a:srgbClr val="0F172A"/>
                    </a:solidFill>
                  </a:tcPr>
                </a:tc>
              </a:tr>
              <a:tr h="287382">
                <a:tc>
                  <a:txBody>
                    <a:bodyPr/>
                    <a:lstStyle/>
                    <a:p>
                      <a:pPr algn="ctr">
                        <a:defRPr sz="950">
                          <a:solidFill>
                            <a:srgbClr val="FFFFFF"/>
                          </a:solidFill>
                          <a:latin typeface="Segoe UI"/>
                        </a:defRPr>
                      </a:pPr>
                      <a:r>
                        <a:t>Block 0</a:t>
                      </a:r>
                    </a:p>
                  </a:txBody>
                  <a:tcPr>
                    <a:solidFill>
                      <a:srgbClr val="172541"/>
                    </a:solidFill>
                  </a:tcPr>
                </a:tc>
                <a:tc>
                  <a:txBody>
                    <a:bodyPr/>
                    <a:lstStyle/>
                    <a:p>
                      <a:pPr algn="ctr">
                        <a:defRPr sz="950">
                          <a:solidFill>
                            <a:srgbClr val="FFFFFF"/>
                          </a:solidFill>
                          <a:latin typeface="Segoe UI"/>
                        </a:defRPr>
                      </a:pPr>
                      <a:r>
                        <a:t>0 KB</a:t>
                      </a:r>
                    </a:p>
                  </a:txBody>
                  <a:tcPr>
                    <a:solidFill>
                      <a:srgbClr val="172541"/>
                    </a:solidFill>
                  </a:tcPr>
                </a:tc>
                <a:tc>
                  <a:txBody>
                    <a:bodyPr/>
                    <a:lstStyle/>
                    <a:p>
                      <a:pPr algn="ctr">
                        <a:defRPr sz="950">
                          <a:solidFill>
                            <a:srgbClr val="FFFFFF"/>
                          </a:solidFill>
                          <a:latin typeface="Segoe UI"/>
                        </a:defRPr>
                      </a:pPr>
                      <a:r>
                        <a:t>100 KB</a:t>
                      </a:r>
                    </a:p>
                  </a:txBody>
                  <a:tcPr>
                    <a:solidFill>
                      <a:srgbClr val="172541"/>
                    </a:solidFill>
                  </a:tcPr>
                </a:tc>
                <a:tc>
                  <a:txBody>
                    <a:bodyPr/>
                    <a:lstStyle/>
                    <a:p>
                      <a:pPr algn="ctr">
                        <a:defRPr sz="950">
                          <a:solidFill>
                            <a:srgbClr val="FFFFFF"/>
                          </a:solidFill>
                          <a:latin typeface="Segoe UI"/>
                        </a:defRPr>
                      </a:pPr>
                      <a:r>
                        <a:t>(Hole)</a:t>
                      </a:r>
                    </a:p>
                  </a:txBody>
                  <a:tcPr>
                    <a:solidFill>
                      <a:srgbClr val="172541"/>
                    </a:solidFill>
                  </a:tcPr>
                </a:tc>
                <a:tc>
                  <a:txBody>
                    <a:bodyPr/>
                    <a:lstStyle/>
                    <a:p>
                      <a:pPr algn="ctr">
                        <a:defRPr sz="950">
                          <a:solidFill>
                            <a:srgbClr val="FFFFFF"/>
                          </a:solidFill>
                          <a:latin typeface="Segoe UI"/>
                        </a:defRPr>
                      </a:pPr>
                      <a:r>
                        <a:t>0 KB</a:t>
                      </a:r>
                    </a:p>
                  </a:txBody>
                  <a:tcPr>
                    <a:solidFill>
                      <a:srgbClr val="172541"/>
                    </a:solidFill>
                  </a:tcPr>
                </a:tc>
                <a:tc>
                  <a:txBody>
                    <a:bodyPr/>
                    <a:lstStyle/>
                    <a:p>
                      <a:pPr algn="ctr">
                        <a:defRPr sz="950">
                          <a:solidFill>
                            <a:srgbClr val="FFFFFF"/>
                          </a:solidFill>
                          <a:latin typeface="Segoe UI"/>
                        </a:defRPr>
                      </a:pPr>
                      <a:r>
                        <a:t>0 KB</a:t>
                      </a:r>
                    </a:p>
                  </a:txBody>
                  <a:tcPr>
                    <a:solidFill>
                      <a:srgbClr val="172541"/>
                    </a:solidFill>
                  </a:tcPr>
                </a:tc>
                <a:tc>
                  <a:txBody>
                    <a:bodyPr/>
                    <a:lstStyle/>
                    <a:p>
                      <a:pPr algn="ctr">
                        <a:defRPr sz="950">
                          <a:solidFill>
                            <a:srgbClr val="38BDF8"/>
                          </a:solidFill>
                          <a:latin typeface="Segoe UI"/>
                        </a:defRPr>
                      </a:pPr>
                      <a:r>
                        <a:t>FREE HOLE (Unallocated)</a:t>
                      </a:r>
                    </a:p>
                  </a:txBody>
                  <a:tcPr>
                    <a:solidFill>
                      <a:srgbClr val="172541"/>
                    </a:solidFill>
                  </a:tcPr>
                </a:tc>
              </a:tr>
              <a:tr h="287382">
                <a:tc>
                  <a:txBody>
                    <a:bodyPr/>
                    <a:lstStyle/>
                    <a:p>
                      <a:pPr algn="ctr">
                        <a:defRPr sz="950">
                          <a:solidFill>
                            <a:srgbClr val="FFFFFF"/>
                          </a:solidFill>
                          <a:latin typeface="Segoe UI"/>
                        </a:defRPr>
                      </a:pPr>
                      <a:r>
                        <a:t>Block 1</a:t>
                      </a:r>
                    </a:p>
                  </a:txBody>
                  <a:tcPr>
                    <a:solidFill>
                      <a:srgbClr val="172541"/>
                    </a:solidFill>
                  </a:tcPr>
                </a:tc>
                <a:tc>
                  <a:txBody>
                    <a:bodyPr/>
                    <a:lstStyle/>
                    <a:p>
                      <a:pPr algn="ctr">
                        <a:defRPr sz="950">
                          <a:solidFill>
                            <a:srgbClr val="FFFFFF"/>
                          </a:solidFill>
                          <a:latin typeface="Segoe UI"/>
                        </a:defRPr>
                      </a:pPr>
                      <a:r>
                        <a:t>100 KB</a:t>
                      </a:r>
                    </a:p>
                  </a:txBody>
                  <a:tcPr>
                    <a:solidFill>
                      <a:srgbClr val="172541"/>
                    </a:solidFill>
                  </a:tcPr>
                </a:tc>
                <a:tc>
                  <a:txBody>
                    <a:bodyPr/>
                    <a:lstStyle/>
                    <a:p>
                      <a:pPr algn="ctr">
                        <a:defRPr sz="950">
                          <a:solidFill>
                            <a:srgbClr val="FFFFFF"/>
                          </a:solidFill>
                          <a:latin typeface="Segoe UI"/>
                        </a:defRPr>
                      </a:pPr>
                      <a:r>
                        <a:t>500 KB</a:t>
                      </a:r>
                    </a:p>
                  </a:txBody>
                  <a:tcPr>
                    <a:solidFill>
                      <a:srgbClr val="172541"/>
                    </a:solidFill>
                  </a:tcPr>
                </a:tc>
                <a:tc>
                  <a:txBody>
                    <a:bodyPr/>
                    <a:lstStyle/>
                    <a:p>
                      <a:pPr algn="ctr">
                        <a:defRPr sz="950">
                          <a:solidFill>
                            <a:srgbClr val="FFFFFF"/>
                          </a:solidFill>
                          <a:latin typeface="Segoe UI"/>
                        </a:defRPr>
                      </a:pPr>
                      <a:r>
                        <a:t>P1</a:t>
                      </a:r>
                    </a:p>
                  </a:txBody>
                  <a:tcPr>
                    <a:solidFill>
                      <a:srgbClr val="172541"/>
                    </a:solidFill>
                  </a:tcPr>
                </a:tc>
                <a:tc>
                  <a:txBody>
                    <a:bodyPr/>
                    <a:lstStyle/>
                    <a:p>
                      <a:pPr algn="ctr">
                        <a:defRPr sz="950">
                          <a:solidFill>
                            <a:srgbClr val="FFFFFF"/>
                          </a:solidFill>
                          <a:latin typeface="Segoe UI"/>
                        </a:defRPr>
                      </a:pPr>
                      <a:r>
                        <a:t>212 KB</a:t>
                      </a:r>
                    </a:p>
                  </a:txBody>
                  <a:tcPr>
                    <a:solidFill>
                      <a:srgbClr val="172541"/>
                    </a:solidFill>
                  </a:tcPr>
                </a:tc>
                <a:tc>
                  <a:txBody>
                    <a:bodyPr/>
                    <a:lstStyle/>
                    <a:p>
                      <a:pPr algn="ctr">
                        <a:defRPr sz="950">
                          <a:solidFill>
                            <a:srgbClr val="FFFFFF"/>
                          </a:solidFill>
                          <a:latin typeface="Segoe UI"/>
                        </a:defRPr>
                      </a:pPr>
                      <a:r>
                        <a:t>288 KB</a:t>
                      </a:r>
                    </a:p>
                  </a:txBody>
                  <a:tcPr>
                    <a:solidFill>
                      <a:srgbClr val="172541"/>
                    </a:solidFill>
                  </a:tcPr>
                </a:tc>
                <a:tc>
                  <a:txBody>
                    <a:bodyPr/>
                    <a:lstStyle/>
                    <a:p>
                      <a:pPr algn="ctr">
                        <a:defRPr sz="950">
                          <a:solidFill>
                            <a:srgbClr val="FFFFFF"/>
                          </a:solidFill>
                          <a:latin typeface="Segoe UI"/>
                        </a:defRPr>
                      </a:pPr>
                      <a:r>
                        <a:t>ALLOCATED (Occupied)</a:t>
                      </a:r>
                    </a:p>
                  </a:txBody>
                  <a:tcPr>
                    <a:solidFill>
                      <a:srgbClr val="172541"/>
                    </a:solidFill>
                  </a:tcPr>
                </a:tc>
              </a:tr>
              <a:tr h="287382">
                <a:tc>
                  <a:txBody>
                    <a:bodyPr/>
                    <a:lstStyle/>
                    <a:p>
                      <a:pPr algn="ctr">
                        <a:defRPr sz="950">
                          <a:solidFill>
                            <a:srgbClr val="FFFFFF"/>
                          </a:solidFill>
                          <a:latin typeface="Segoe UI"/>
                        </a:defRPr>
                      </a:pPr>
                      <a:r>
                        <a:t>Block 2</a:t>
                      </a:r>
                    </a:p>
                  </a:txBody>
                  <a:tcPr>
                    <a:solidFill>
                      <a:srgbClr val="172541"/>
                    </a:solidFill>
                  </a:tcPr>
                </a:tc>
                <a:tc>
                  <a:txBody>
                    <a:bodyPr/>
                    <a:lstStyle/>
                    <a:p>
                      <a:pPr algn="ctr">
                        <a:defRPr sz="950">
                          <a:solidFill>
                            <a:srgbClr val="FFFFFF"/>
                          </a:solidFill>
                          <a:latin typeface="Segoe UI"/>
                        </a:defRPr>
                      </a:pPr>
                      <a:r>
                        <a:t>600 KB</a:t>
                      </a:r>
                    </a:p>
                  </a:txBody>
                  <a:tcPr>
                    <a:solidFill>
                      <a:srgbClr val="172541"/>
                    </a:solidFill>
                  </a:tcPr>
                </a:tc>
                <a:tc>
                  <a:txBody>
                    <a:bodyPr/>
                    <a:lstStyle/>
                    <a:p>
                      <a:pPr algn="ctr">
                        <a:defRPr sz="950">
                          <a:solidFill>
                            <a:srgbClr val="FFFFFF"/>
                          </a:solidFill>
                          <a:latin typeface="Segoe UI"/>
                        </a:defRPr>
                      </a:pPr>
                      <a:r>
                        <a:t>200 KB</a:t>
                      </a:r>
                    </a:p>
                  </a:txBody>
                  <a:tcPr>
                    <a:solidFill>
                      <a:srgbClr val="172541"/>
                    </a:solidFill>
                  </a:tcPr>
                </a:tc>
                <a:tc>
                  <a:txBody>
                    <a:bodyPr/>
                    <a:lstStyle/>
                    <a:p>
                      <a:pPr algn="ctr">
                        <a:defRPr sz="950">
                          <a:solidFill>
                            <a:srgbClr val="FFFFFF"/>
                          </a:solidFill>
                          <a:latin typeface="Segoe UI"/>
                        </a:defRPr>
                      </a:pPr>
                      <a:r>
                        <a:t>P3</a:t>
                      </a:r>
                    </a:p>
                  </a:txBody>
                  <a:tcPr>
                    <a:solidFill>
                      <a:srgbClr val="172541"/>
                    </a:solidFill>
                  </a:tcPr>
                </a:tc>
                <a:tc>
                  <a:txBody>
                    <a:bodyPr/>
                    <a:lstStyle/>
                    <a:p>
                      <a:pPr algn="ctr">
                        <a:defRPr sz="950">
                          <a:solidFill>
                            <a:srgbClr val="FFFFFF"/>
                          </a:solidFill>
                          <a:latin typeface="Segoe UI"/>
                        </a:defRPr>
                      </a:pPr>
                      <a:r>
                        <a:t>112 KB</a:t>
                      </a:r>
                    </a:p>
                  </a:txBody>
                  <a:tcPr>
                    <a:solidFill>
                      <a:srgbClr val="172541"/>
                    </a:solidFill>
                  </a:tcPr>
                </a:tc>
                <a:tc>
                  <a:txBody>
                    <a:bodyPr/>
                    <a:lstStyle/>
                    <a:p>
                      <a:pPr algn="ctr">
                        <a:defRPr sz="950">
                          <a:solidFill>
                            <a:srgbClr val="FFFFFF"/>
                          </a:solidFill>
                          <a:latin typeface="Segoe UI"/>
                        </a:defRPr>
                      </a:pPr>
                      <a:r>
                        <a:t>88 KB</a:t>
                      </a:r>
                    </a:p>
                  </a:txBody>
                  <a:tcPr>
                    <a:solidFill>
                      <a:srgbClr val="172541"/>
                    </a:solidFill>
                  </a:tcPr>
                </a:tc>
                <a:tc>
                  <a:txBody>
                    <a:bodyPr/>
                    <a:lstStyle/>
                    <a:p>
                      <a:pPr algn="ctr">
                        <a:defRPr sz="950">
                          <a:solidFill>
                            <a:srgbClr val="FFFFFF"/>
                          </a:solidFill>
                          <a:latin typeface="Segoe UI"/>
                        </a:defRPr>
                      </a:pPr>
                      <a:r>
                        <a:t>ALLOCATED (Occupied)</a:t>
                      </a:r>
                    </a:p>
                  </a:txBody>
                  <a:tcPr>
                    <a:solidFill>
                      <a:srgbClr val="172541"/>
                    </a:solidFill>
                  </a:tcPr>
                </a:tc>
              </a:tr>
              <a:tr h="287382">
                <a:tc>
                  <a:txBody>
                    <a:bodyPr/>
                    <a:lstStyle/>
                    <a:p>
                      <a:pPr algn="ctr">
                        <a:defRPr sz="950">
                          <a:solidFill>
                            <a:srgbClr val="FFFFFF"/>
                          </a:solidFill>
                          <a:latin typeface="Segoe UI"/>
                        </a:defRPr>
                      </a:pPr>
                      <a:r>
                        <a:t>Block 3</a:t>
                      </a:r>
                    </a:p>
                  </a:txBody>
                  <a:tcPr>
                    <a:solidFill>
                      <a:srgbClr val="172541"/>
                    </a:solidFill>
                  </a:tcPr>
                </a:tc>
                <a:tc>
                  <a:txBody>
                    <a:bodyPr/>
                    <a:lstStyle/>
                    <a:p>
                      <a:pPr algn="ctr">
                        <a:defRPr sz="950">
                          <a:solidFill>
                            <a:srgbClr val="FFFFFF"/>
                          </a:solidFill>
                          <a:latin typeface="Segoe UI"/>
                        </a:defRPr>
                      </a:pPr>
                      <a:r>
                        <a:t>800 KB</a:t>
                      </a:r>
                    </a:p>
                  </a:txBody>
                  <a:tcPr>
                    <a:solidFill>
                      <a:srgbClr val="172541"/>
                    </a:solidFill>
                  </a:tcPr>
                </a:tc>
                <a:tc>
                  <a:txBody>
                    <a:bodyPr/>
                    <a:lstStyle/>
                    <a:p>
                      <a:pPr algn="ctr">
                        <a:defRPr sz="950">
                          <a:solidFill>
                            <a:srgbClr val="FFFFFF"/>
                          </a:solidFill>
                          <a:latin typeface="Segoe UI"/>
                        </a:defRPr>
                      </a:pPr>
                      <a:r>
                        <a:t>300 KB</a:t>
                      </a:r>
                    </a:p>
                  </a:txBody>
                  <a:tcPr>
                    <a:solidFill>
                      <a:srgbClr val="172541"/>
                    </a:solidFill>
                  </a:tcPr>
                </a:tc>
                <a:tc>
                  <a:txBody>
                    <a:bodyPr/>
                    <a:lstStyle/>
                    <a:p>
                      <a:pPr algn="ctr">
                        <a:defRPr sz="950">
                          <a:solidFill>
                            <a:srgbClr val="FFFFFF"/>
                          </a:solidFill>
                          <a:latin typeface="Segoe UI"/>
                        </a:defRPr>
                      </a:pPr>
                      <a:r>
                        <a:t>(Hole)</a:t>
                      </a:r>
                    </a:p>
                  </a:txBody>
                  <a:tcPr>
                    <a:solidFill>
                      <a:srgbClr val="172541"/>
                    </a:solidFill>
                  </a:tcPr>
                </a:tc>
                <a:tc>
                  <a:txBody>
                    <a:bodyPr/>
                    <a:lstStyle/>
                    <a:p>
                      <a:pPr algn="ctr">
                        <a:defRPr sz="950">
                          <a:solidFill>
                            <a:srgbClr val="FFFFFF"/>
                          </a:solidFill>
                          <a:latin typeface="Segoe UI"/>
                        </a:defRPr>
                      </a:pPr>
                      <a:r>
                        <a:t>0 KB</a:t>
                      </a:r>
                    </a:p>
                  </a:txBody>
                  <a:tcPr>
                    <a:solidFill>
                      <a:srgbClr val="172541"/>
                    </a:solidFill>
                  </a:tcPr>
                </a:tc>
                <a:tc>
                  <a:txBody>
                    <a:bodyPr/>
                    <a:lstStyle/>
                    <a:p>
                      <a:pPr algn="ctr">
                        <a:defRPr sz="950">
                          <a:solidFill>
                            <a:srgbClr val="FFFFFF"/>
                          </a:solidFill>
                          <a:latin typeface="Segoe UI"/>
                        </a:defRPr>
                      </a:pPr>
                      <a:r>
                        <a:t>0 KB</a:t>
                      </a:r>
                    </a:p>
                  </a:txBody>
                  <a:tcPr>
                    <a:solidFill>
                      <a:srgbClr val="172541"/>
                    </a:solidFill>
                  </a:tcPr>
                </a:tc>
                <a:tc>
                  <a:txBody>
                    <a:bodyPr/>
                    <a:lstStyle/>
                    <a:p>
                      <a:pPr algn="ctr">
                        <a:defRPr sz="950">
                          <a:solidFill>
                            <a:srgbClr val="38BDF8"/>
                          </a:solidFill>
                          <a:latin typeface="Segoe UI"/>
                        </a:defRPr>
                      </a:pPr>
                      <a:r>
                        <a:t>FREE HOLE (Unallocated)</a:t>
                      </a:r>
                    </a:p>
                  </a:txBody>
                  <a:tcPr>
                    <a:solidFill>
                      <a:srgbClr val="172541"/>
                    </a:solidFill>
                  </a:tcPr>
                </a:tc>
              </a:tr>
              <a:tr h="287382">
                <a:tc>
                  <a:txBody>
                    <a:bodyPr/>
                    <a:lstStyle/>
                    <a:p>
                      <a:pPr algn="ctr">
                        <a:defRPr sz="950">
                          <a:solidFill>
                            <a:srgbClr val="FFFFFF"/>
                          </a:solidFill>
                          <a:latin typeface="Segoe UI"/>
                        </a:defRPr>
                      </a:pPr>
                      <a:r>
                        <a:t>Block 4</a:t>
                      </a:r>
                    </a:p>
                  </a:txBody>
                  <a:tcPr>
                    <a:solidFill>
                      <a:srgbClr val="172541"/>
                    </a:solidFill>
                  </a:tcPr>
                </a:tc>
                <a:tc>
                  <a:txBody>
                    <a:bodyPr/>
                    <a:lstStyle/>
                    <a:p>
                      <a:pPr algn="ctr">
                        <a:defRPr sz="950">
                          <a:solidFill>
                            <a:srgbClr val="FFFFFF"/>
                          </a:solidFill>
                          <a:latin typeface="Segoe UI"/>
                        </a:defRPr>
                      </a:pPr>
                      <a:r>
                        <a:t>1100 KB</a:t>
                      </a:r>
                    </a:p>
                  </a:txBody>
                  <a:tcPr>
                    <a:solidFill>
                      <a:srgbClr val="172541"/>
                    </a:solidFill>
                  </a:tcPr>
                </a:tc>
                <a:tc>
                  <a:txBody>
                    <a:bodyPr/>
                    <a:lstStyle/>
                    <a:p>
                      <a:pPr algn="ctr">
                        <a:defRPr sz="950">
                          <a:solidFill>
                            <a:srgbClr val="FFFFFF"/>
                          </a:solidFill>
                          <a:latin typeface="Segoe UI"/>
                        </a:defRPr>
                      </a:pPr>
                      <a:r>
                        <a:t>600 KB</a:t>
                      </a:r>
                    </a:p>
                  </a:txBody>
                  <a:tcPr>
                    <a:solidFill>
                      <a:srgbClr val="172541"/>
                    </a:solidFill>
                  </a:tcPr>
                </a:tc>
                <a:tc>
                  <a:txBody>
                    <a:bodyPr/>
                    <a:lstStyle/>
                    <a:p>
                      <a:pPr algn="ctr">
                        <a:defRPr sz="950">
                          <a:solidFill>
                            <a:srgbClr val="FFFFFF"/>
                          </a:solidFill>
                          <a:latin typeface="Segoe UI"/>
                        </a:defRPr>
                      </a:pPr>
                      <a:r>
                        <a:t>P2</a:t>
                      </a:r>
                    </a:p>
                  </a:txBody>
                  <a:tcPr>
                    <a:solidFill>
                      <a:srgbClr val="172541"/>
                    </a:solidFill>
                  </a:tcPr>
                </a:tc>
                <a:tc>
                  <a:txBody>
                    <a:bodyPr/>
                    <a:lstStyle/>
                    <a:p>
                      <a:pPr algn="ctr">
                        <a:defRPr sz="950">
                          <a:solidFill>
                            <a:srgbClr val="FFFFFF"/>
                          </a:solidFill>
                          <a:latin typeface="Segoe UI"/>
                        </a:defRPr>
                      </a:pPr>
                      <a:r>
                        <a:t>417 KB</a:t>
                      </a:r>
                    </a:p>
                  </a:txBody>
                  <a:tcPr>
                    <a:solidFill>
                      <a:srgbClr val="172541"/>
                    </a:solidFill>
                  </a:tcPr>
                </a:tc>
                <a:tc>
                  <a:txBody>
                    <a:bodyPr/>
                    <a:lstStyle/>
                    <a:p>
                      <a:pPr algn="ctr">
                        <a:defRPr sz="950">
                          <a:solidFill>
                            <a:srgbClr val="FFFFFF"/>
                          </a:solidFill>
                          <a:latin typeface="Segoe UI"/>
                        </a:defRPr>
                      </a:pPr>
                      <a:r>
                        <a:t>183 KB</a:t>
                      </a:r>
                    </a:p>
                  </a:txBody>
                  <a:tcPr>
                    <a:solidFill>
                      <a:srgbClr val="172541"/>
                    </a:solidFill>
                  </a:tcPr>
                </a:tc>
                <a:tc>
                  <a:txBody>
                    <a:bodyPr/>
                    <a:lstStyle/>
                    <a:p>
                      <a:pPr algn="ctr">
                        <a:defRPr sz="950">
                          <a:solidFill>
                            <a:srgbClr val="FFFFFF"/>
                          </a:solidFill>
                          <a:latin typeface="Segoe UI"/>
                        </a:defRPr>
                      </a:pPr>
                      <a:r>
                        <a:t>ALLOCATED (Occupied)</a:t>
                      </a:r>
                    </a:p>
                  </a:txBody>
                  <a:tcPr>
                    <a:solidFill>
                      <a:srgbClr val="172541"/>
                    </a:solidFill>
                  </a:tcPr>
                </a:tc>
              </a:tr>
              <a:tr h="287388">
                <a:tc>
                  <a:txBody>
                    <a:bodyPr/>
                    <a:lstStyle/>
                    <a:p>
                      <a:pPr algn="ctr">
                        <a:defRPr sz="950" b="1">
                          <a:solidFill>
                            <a:srgbClr val="FFFFFF"/>
                          </a:solidFill>
                          <a:latin typeface="Segoe UI"/>
                        </a:defRPr>
                      </a:pPr>
                      <a:r>
                        <a:t>Total Space</a:t>
                      </a:r>
                    </a:p>
                  </a:txBody>
                  <a:tcPr>
                    <a:solidFill>
                      <a:srgbClr val="102C28"/>
                    </a:solidFill>
                  </a:tcPr>
                </a:tc>
                <a:tc>
                  <a:txBody>
                    <a:bodyPr/>
                    <a:lstStyle/>
                    <a:p>
                      <a:pPr algn="ctr">
                        <a:defRPr sz="950" b="1">
                          <a:solidFill>
                            <a:srgbClr val="FFFFFF"/>
                          </a:solidFill>
                          <a:latin typeface="Segoe UI"/>
                        </a:defRPr>
                      </a:pPr>
                      <a:r>
                        <a:t> - </a:t>
                      </a:r>
                    </a:p>
                  </a:txBody>
                  <a:tcPr>
                    <a:solidFill>
                      <a:srgbClr val="102C28"/>
                    </a:solidFill>
                  </a:tcPr>
                </a:tc>
                <a:tc>
                  <a:txBody>
                    <a:bodyPr/>
                    <a:lstStyle/>
                    <a:p>
                      <a:pPr algn="ctr">
                        <a:defRPr sz="950" b="1">
                          <a:solidFill>
                            <a:srgbClr val="FFFFFF"/>
                          </a:solidFill>
                          <a:latin typeface="Segoe UI"/>
                        </a:defRPr>
                      </a:pPr>
                      <a:r>
                        <a:t>1700 KB</a:t>
                      </a:r>
                    </a:p>
                  </a:txBody>
                  <a:tcPr>
                    <a:solidFill>
                      <a:srgbClr val="102C28"/>
                    </a:solidFill>
                  </a:tcPr>
                </a:tc>
                <a:tc>
                  <a:txBody>
                    <a:bodyPr/>
                    <a:lstStyle/>
                    <a:p>
                      <a:pPr algn="ctr">
                        <a:defRPr sz="950" b="1">
                          <a:solidFill>
                            <a:srgbClr val="FFFFFF"/>
                          </a:solidFill>
                          <a:latin typeface="Segoe UI"/>
                        </a:defRPr>
                      </a:pPr>
                      <a:r>
                        <a:t>3 Active</a:t>
                      </a:r>
                    </a:p>
                  </a:txBody>
                  <a:tcPr>
                    <a:solidFill>
                      <a:srgbClr val="102C28"/>
                    </a:solidFill>
                  </a:tcPr>
                </a:tc>
                <a:tc>
                  <a:txBody>
                    <a:bodyPr/>
                    <a:lstStyle/>
                    <a:p>
                      <a:pPr algn="ctr">
                        <a:defRPr sz="950" b="1">
                          <a:solidFill>
                            <a:srgbClr val="34D399"/>
                          </a:solidFill>
                          <a:latin typeface="Segoe UI"/>
                        </a:defRPr>
                      </a:pPr>
                      <a:r>
                        <a:t>741 KB</a:t>
                      </a:r>
                    </a:p>
                  </a:txBody>
                  <a:tcPr>
                    <a:solidFill>
                      <a:srgbClr val="102C28"/>
                    </a:solidFill>
                  </a:tcPr>
                </a:tc>
                <a:tc>
                  <a:txBody>
                    <a:bodyPr/>
                    <a:lstStyle/>
                    <a:p>
                      <a:pPr algn="ctr">
                        <a:defRPr sz="950" b="1">
                          <a:solidFill>
                            <a:srgbClr val="FFFFFF"/>
                          </a:solidFill>
                          <a:latin typeface="Segoe UI"/>
                        </a:defRPr>
                      </a:pPr>
                      <a:r>
                        <a:t>559 KB</a:t>
                      </a:r>
                    </a:p>
                  </a:txBody>
                  <a:tcPr>
                    <a:solidFill>
                      <a:srgbClr val="102C28"/>
                    </a:solidFill>
                  </a:tcPr>
                </a:tc>
                <a:tc>
                  <a:txBody>
                    <a:bodyPr/>
                    <a:lstStyle/>
                    <a:p>
                      <a:pPr algn="ctr">
                        <a:defRPr sz="950" b="1">
                          <a:solidFill>
                            <a:srgbClr val="34D399"/>
                          </a:solidFill>
                          <a:latin typeface="Segoe UI"/>
                        </a:defRPr>
                      </a:pPr>
                      <a:r>
                        <a:t>EFFICIENCY: 68.6% (Used/Alloc)</a:t>
                      </a:r>
                    </a:p>
                  </a:txBody>
                  <a:tcPr>
                    <a:solidFill>
                      <a:srgbClr val="102C2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3: SWANAND MORE (ROLL NO: 43)  -  PAGE 7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Virtual Demand Paging, Belady's Anomaly Proof &amp; Viva Defense</a:t>
            </a:r>
          </a:p>
          <a:p>
            <a:pPr>
              <a:defRPr sz="1100">
                <a:solidFill>
                  <a:srgbClr val="94A3B8"/>
                </a:solidFill>
                <a:latin typeface="Segoe UI"/>
              </a:defRPr>
            </a:pPr>
            <a:r>
              <a:t>Ownership: 2D frame residency matrix, FIFO/LRU/OPT solvers, Belady's empirical proof, and stack algorithm properties</a:t>
            </a:r>
          </a:p>
        </p:txBody>
      </p:sp>
      <p:sp>
        <p:nvSpPr>
          <p:cNvPr id="5" name="Rounded Rectangle 4"/>
          <p:cNvSpPr/>
          <p:nvPr/>
        </p:nvSpPr>
        <p:spPr>
          <a:xfrm>
            <a:off x="731520" y="1645920"/>
            <a:ext cx="512064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10B981"/>
                </a:solidFill>
                <a:latin typeface="Segoe UI"/>
              </a:defRPr>
            </a:pPr>
            <a:r>
              <a:t>PAGE REPLACEMENT &amp; BELADY'S ANOMALY PROOF</a:t>
            </a:r>
          </a:p>
          <a:p>
            <a:pPr>
              <a:spcAft>
                <a:spcPts val="600"/>
              </a:spcAft>
            </a:pPr>
            <a:r>
              <a:rPr sz="1050" b="1">
                <a:solidFill>
                  <a:srgbClr val="FFFFFF"/>
                </a:solidFill>
                <a:latin typeface="Segoe UI"/>
              </a:rPr>
              <a:t>▪ Demand Paging Policies Modeled  -  </a:t>
            </a:r>
            <a:r>
              <a:rPr sz="1000">
                <a:solidFill>
                  <a:srgbClr val="94A3B8"/>
                </a:solidFill>
                <a:latin typeface="Segoe UI"/>
              </a:rPr>
              <a:t>FIFO (queue order eviction), LRU (age-stack recency eviction), Optimal OPT (lookahead future eviction), and LFU (reference count).</a:t>
            </a:r>
          </a:p>
          <a:p>
            <a:pPr>
              <a:spcAft>
                <a:spcPts val="600"/>
              </a:spcAft>
            </a:pPr>
            <a:r>
              <a:rPr sz="1050" b="1">
                <a:solidFill>
                  <a:srgbClr val="FFFFFF"/>
                </a:solidFill>
                <a:latin typeface="Segoe UI"/>
              </a:rPr>
              <a:t>▪ Empirical Demonstration of Belady's Anomaly  -  </a:t>
            </a:r>
            <a:r>
              <a:rPr sz="1000">
                <a:solidFill>
                  <a:srgbClr val="94A3B8"/>
                </a:solidFill>
                <a:latin typeface="Segoe UI"/>
              </a:rPr>
              <a:t>Evaluated reference sequence: [1, 2, 3, 4, 1, 2, 5, 1, 2, 3, 4, 5]</a:t>
            </a:r>
          </a:p>
          <a:p>
            <a:pPr>
              <a:spcAft>
                <a:spcPts val="800"/>
              </a:spcAft>
              <a:defRPr sz="950" b="1">
                <a:solidFill>
                  <a:srgbClr val="FBBF24"/>
                </a:solidFill>
                <a:latin typeface="Consolas"/>
              </a:defRPr>
            </a:pPr>
            <a:r>
              <a:t>• Capacity F = 3 Frames -&gt; EXACTLY 9 PAGE FAULTS</a:t>
            </a:r>
            <a:br/>
            <a:r>
              <a:t>• Capacity F = 4 Frames -&gt; EXACTLY 10 PAGE FAULTS!</a:t>
            </a:r>
            <a:br/>
            <a:r>
              <a:t>(Anomalous +11.1% increase in page faults despite 33% more RAM!)</a:t>
            </a:r>
          </a:p>
          <a:p>
            <a:pPr>
              <a:spcAft>
                <a:spcPts val="600"/>
              </a:spcAft>
            </a:pPr>
            <a:r>
              <a:rPr sz="1050" b="1">
                <a:solidFill>
                  <a:srgbClr val="FFFFFF"/>
                </a:solidFill>
                <a:latin typeface="Segoe UI"/>
              </a:rPr>
              <a:t>▪ Stack Algorithms &amp; Inclusion Property  -  </a:t>
            </a:r>
            <a:r>
              <a:rPr sz="1000">
                <a:solidFill>
                  <a:srgbClr val="94A3B8"/>
                </a:solidFill>
                <a:latin typeface="Segoe UI"/>
              </a:rPr>
              <a:t>An algorithm is a Stack Algorithm if M_t(F) ⊆ M_t(F+1) for all t. LRU and OPT satisfy inclusion (immune to Belady's); FIFO strictly violates inclusion.</a:t>
            </a:r>
          </a:p>
          <a:p>
            <a:pPr>
              <a:spcAft>
                <a:spcPts val="600"/>
              </a:spcAft>
            </a:pPr>
            <a:r>
              <a:rPr sz="1050" b="1">
                <a:solidFill>
                  <a:srgbClr val="FFFFFF"/>
                </a:solidFill>
                <a:latin typeface="Segoe UI"/>
              </a:rPr>
              <a:t>▪ Standard 20-Page Workload Benchmark  -  </a:t>
            </a:r>
            <a:r>
              <a:rPr sz="1000">
                <a:solidFill>
                  <a:srgbClr val="94A3B8"/>
                </a:solidFill>
                <a:latin typeface="Segoe UI"/>
              </a:rPr>
              <a:t>Sequence [7,0,1,2,0,3,0,4,2,3,0,3,2,1,2,0,1,7,0,1] with F=3 frames:
• OPT: 9 Faults (55.0% Hit Ratio)  -  Theoretical Ceiling
• LRU: 12 Faults (40.0% Hit Ratio)  -  Practical Best
• FIFO: 15 Faults (25.0% Hit Ratio)  -  Susceptible to Convoy</a:t>
            </a:r>
          </a:p>
        </p:txBody>
      </p:sp>
      <p:sp>
        <p:nvSpPr>
          <p:cNvPr id="6" name="Rounded Rectangle 5"/>
          <p:cNvSpPr/>
          <p:nvPr/>
        </p:nvSpPr>
        <p:spPr>
          <a:xfrm>
            <a:off x="6126480" y="1645920"/>
            <a:ext cx="530352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818CF8"/>
                </a:solidFill>
                <a:latin typeface="Segoe UI"/>
              </a:defRPr>
            </a:pPr>
            <a:r>
              <a:t>ORAL TECHNICAL VIVA VOCE DEFENSE (MEMBER 3)</a:t>
            </a:r>
          </a:p>
          <a:p>
            <a:pPr>
              <a:spcAft>
                <a:spcPts val="600"/>
              </a:spcAft>
            </a:pPr>
            <a:r>
              <a:rPr sz="1050" b="1">
                <a:solidFill>
                  <a:srgbClr val="FFFFFF"/>
                </a:solidFill>
                <a:latin typeface="Segoe UI"/>
              </a:rPr>
              <a:t>▪ Q1: Difference between Internal &amp; External Fragmentation?</a:t>
            </a:r>
          </a:p>
          <a:p>
            <a:pPr>
              <a:spcAft>
                <a:spcPts val="800"/>
              </a:spcAft>
              <a:defRPr sz="950">
                <a:solidFill>
                  <a:srgbClr val="94A3B8"/>
                </a:solidFill>
                <a:latin typeface="Segoe UI"/>
              </a:defRPr>
            </a:pPr>
            <a:r>
              <a:t>Ans: Internal fragmentation occurs when fixed memory blocks allocated to a process exceed request size; the unused portion is trapped inside the partition (e.g. 500 KB block assigned 212 KB wastes 288 KB internally). External fragmentation occurs when total free space is sufficient for a process, but broken into non-contiguous holes. Compaction solves external fragmentation by consolidating all holes.</a:t>
            </a:r>
          </a:p>
          <a:p>
            <a:pPr>
              <a:spcAft>
                <a:spcPts val="600"/>
              </a:spcAft>
            </a:pPr>
            <a:r>
              <a:rPr sz="1050" b="1">
                <a:solidFill>
                  <a:srgbClr val="FFFFFF"/>
                </a:solidFill>
                <a:latin typeface="Segoe UI"/>
              </a:rPr>
              <a:t>▪ Q2: Define mathematically why LRU is immune to Belady's Anomaly.</a:t>
            </a:r>
          </a:p>
          <a:p>
            <a:pPr>
              <a:spcAft>
                <a:spcPts val="800"/>
              </a:spcAft>
              <a:defRPr sz="950">
                <a:solidFill>
                  <a:srgbClr val="94A3B8"/>
                </a:solidFill>
                <a:latin typeface="Segoe UI"/>
              </a:defRPr>
            </a:pPr>
            <a:r>
              <a:t>Ans: LRU is a stack algorithm satisfying inclusion: the resident set of m frames corresponds to the m most recently referenced pages, which is always a strict subset of the m+1 most recently referenced pages S(m,t) ⊆ S(m+1,t). Adding a frame can never convert a hit into a miss.</a:t>
            </a:r>
          </a:p>
          <a:p>
            <a:pPr>
              <a:spcAft>
                <a:spcPts val="600"/>
              </a:spcAft>
            </a:pPr>
            <a:r>
              <a:rPr sz="1050" b="1">
                <a:solidFill>
                  <a:srgbClr val="FFFFFF"/>
                </a:solidFill>
                <a:latin typeface="Segoe UI"/>
              </a:rPr>
              <a:t>▪ Q3: Trade-offs between First Fit, Best Fit, and Worst Fit?</a:t>
            </a:r>
          </a:p>
          <a:p>
            <a:pPr>
              <a:defRPr sz="950">
                <a:solidFill>
                  <a:srgbClr val="94A3B8"/>
                </a:solidFill>
                <a:latin typeface="Segoe UI"/>
              </a:defRPr>
            </a:pPr>
            <a:r>
              <a:t>Ans: First Fit is computationally fastest (O(n) early break). Best Fit minimizes immediately wasted space but creates micro-fragments. Worst Fit preserves large leftover holes, but has higher scan overhead.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4: TRUNAL PAWAR (ROLL NO: 65)  -  PAGE 8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Secondary Storage Disk Head Trajectory &amp; Seek Optimization</a:t>
            </a:r>
          </a:p>
          <a:p>
            <a:pPr>
              <a:defRPr sz="1100">
                <a:solidFill>
                  <a:srgbClr val="94A3B8"/>
                </a:solidFill>
                <a:latin typeface="Segoe UI"/>
              </a:defRPr>
            </a:pPr>
            <a:r>
              <a:t>Ownership: Spindle head physics modeling (0–199), SCAN/SSTF/LOOK solvers, and cumulative seek distance tracking</a:t>
            </a:r>
          </a:p>
        </p:txBody>
      </p:sp>
      <p:sp>
        <p:nvSpPr>
          <p:cNvPr id="5" name="Rounded Rectangle 4"/>
          <p:cNvSpPr/>
          <p:nvPr/>
        </p:nvSpPr>
        <p:spPr>
          <a:xfrm>
            <a:off x="731520" y="1645920"/>
            <a:ext cx="512064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38BDF8"/>
                </a:solidFill>
                <a:latin typeface="Segoe UI"/>
              </a:defRPr>
            </a:pPr>
            <a:r>
              <a:t>DISK ARM MECHANICS &amp; SEEK EQUATIONS</a:t>
            </a:r>
          </a:p>
          <a:p>
            <a:pPr>
              <a:spcAft>
                <a:spcPts val="600"/>
              </a:spcAft>
            </a:pPr>
            <a:r>
              <a:rPr sz="1050" b="1">
                <a:solidFill>
                  <a:srgbClr val="FFFFFF"/>
                </a:solidFill>
                <a:latin typeface="Segoe UI"/>
              </a:rPr>
              <a:t>▪ Spindle &amp; Head Geometry  -  </a:t>
            </a:r>
            <a:r>
              <a:rPr sz="1000">
                <a:solidFill>
                  <a:srgbClr val="94A3B8"/>
                </a:solidFill>
                <a:latin typeface="Segoe UI"/>
              </a:rPr>
              <a:t>Models 200 concentric cylinders (0 to 199) with initial head position H_0 = 53 across request queue [98, 183, 37, 122, 14, 124, 65, 67].</a:t>
            </a:r>
          </a:p>
          <a:p>
            <a:pPr>
              <a:spcAft>
                <a:spcPts val="600"/>
              </a:spcAft>
            </a:pPr>
            <a:r>
              <a:rPr sz="1050" b="1">
                <a:solidFill>
                  <a:srgbClr val="FFFFFF"/>
                </a:solidFill>
                <a:latin typeface="Segoe UI"/>
              </a:rPr>
              <a:t>▪ Mathematical Seek Distance  -  </a:t>
            </a:r>
            <a:r>
              <a:rPr sz="1000">
                <a:solidFill>
                  <a:srgbClr val="94A3B8"/>
                </a:solidFill>
                <a:latin typeface="Segoe UI"/>
              </a:rPr>
              <a:t>Cumulative mechanical movement across m serviced cylinders:</a:t>
            </a:r>
          </a:p>
          <a:p>
            <a:pPr>
              <a:spcAft>
                <a:spcPts val="800"/>
              </a:spcAft>
              <a:defRPr sz="950">
                <a:solidFill>
                  <a:srgbClr val="38BDF8"/>
                </a:solidFill>
                <a:latin typeface="Consolas"/>
              </a:defRPr>
            </a:pPr>
            <a:r>
              <a:t>Total Head Movement = Σ_{k=1}^m |C_k - C_{k-1}|</a:t>
            </a:r>
            <a:br/>
            <a:r>
              <a:t>Avg Seek Distance = (1/m) Σ |C_k - C_{k-1}| (Cylinders/Request)</a:t>
            </a:r>
          </a:p>
          <a:p>
            <a:pPr>
              <a:spcAft>
                <a:spcPts val="600"/>
              </a:spcAft>
            </a:pPr>
            <a:r>
              <a:rPr sz="1050" b="1">
                <a:solidFill>
                  <a:srgbClr val="FFFFFF"/>
                </a:solidFill>
                <a:latin typeface="Segoe UI"/>
              </a:rPr>
              <a:t>▪ Algorithmic Policy Performance</a:t>
            </a:r>
          </a:p>
          <a:p>
            <a:pPr>
              <a:spcAft>
                <a:spcPts val="600"/>
              </a:spcAft>
            </a:pPr>
            <a:r>
              <a:rPr sz="1050" b="1">
                <a:solidFill>
                  <a:srgbClr val="FFFFFF"/>
                </a:solidFill>
                <a:latin typeface="Segoe UI"/>
              </a:rPr>
              <a:t>▪ • SSTF (Shortest Seek Time First)  -  </a:t>
            </a:r>
            <a:r>
              <a:rPr sz="1000">
                <a:solidFill>
                  <a:srgbClr val="94A3B8"/>
                </a:solidFill>
                <a:latin typeface="Segoe UI"/>
              </a:rPr>
              <a:t>236 Cylinders (63.1% reduction vs FCFS; risks edge starvation)</a:t>
            </a:r>
          </a:p>
          <a:p>
            <a:pPr>
              <a:spcAft>
                <a:spcPts val="600"/>
              </a:spcAft>
            </a:pPr>
            <a:r>
              <a:rPr sz="1050" b="1">
                <a:solidFill>
                  <a:srgbClr val="FFFFFF"/>
                </a:solidFill>
                <a:latin typeface="Segoe UI"/>
              </a:rPr>
              <a:t>▪ • LOOK Optimization  -  </a:t>
            </a:r>
            <a:r>
              <a:rPr sz="1000">
                <a:solidFill>
                  <a:srgbClr val="94A3B8"/>
                </a:solidFill>
                <a:latin typeface="Segoe UI"/>
              </a:rPr>
              <a:t>299 Cylinders (Reverses at furthest request without boundary penalty)</a:t>
            </a:r>
          </a:p>
          <a:p>
            <a:pPr>
              <a:spcAft>
                <a:spcPts val="600"/>
              </a:spcAft>
            </a:pPr>
            <a:r>
              <a:rPr sz="1050" b="1">
                <a:solidFill>
                  <a:srgbClr val="FFFFFF"/>
                </a:solidFill>
                <a:latin typeface="Segoe UI"/>
              </a:rPr>
              <a:t>▪ • SCAN (Elevator Algorithm)  -  </a:t>
            </a:r>
            <a:r>
              <a:rPr sz="1000">
                <a:solidFill>
                  <a:srgbClr val="94A3B8"/>
                </a:solidFill>
                <a:latin typeface="Segoe UI"/>
              </a:rPr>
              <a:t>331 Cylinders (Sweeps to cylinder 199 boundary, then reverses)</a:t>
            </a:r>
          </a:p>
          <a:p>
            <a:pPr>
              <a:spcAft>
                <a:spcPts val="600"/>
              </a:spcAft>
            </a:pPr>
            <a:r>
              <a:rPr sz="1050" b="1">
                <a:solidFill>
                  <a:srgbClr val="FFFFFF"/>
                </a:solidFill>
                <a:latin typeface="Segoe UI"/>
              </a:rPr>
              <a:t>▪ • C-SCAN (Circular SCAN)  -  </a:t>
            </a:r>
            <a:r>
              <a:rPr sz="1000">
                <a:solidFill>
                  <a:srgbClr val="94A3B8"/>
                </a:solidFill>
                <a:latin typeface="Segoe UI"/>
              </a:rPr>
              <a:t>382 Cylinders (Uniform wait distribution across sectors)</a:t>
            </a:r>
          </a:p>
          <a:p>
            <a:pPr>
              <a:spcAft>
                <a:spcPts val="600"/>
              </a:spcAft>
            </a:pPr>
            <a:r>
              <a:rPr sz="1050" b="1">
                <a:solidFill>
                  <a:srgbClr val="FFFFFF"/>
                </a:solidFill>
                <a:latin typeface="Segoe UI"/>
              </a:rPr>
              <a:t>▪ • FCFS (Baseline)  -  </a:t>
            </a:r>
            <a:r>
              <a:rPr sz="1000">
                <a:solidFill>
                  <a:srgbClr val="94A3B8"/>
                </a:solidFill>
                <a:latin typeface="Segoe UI"/>
              </a:rPr>
              <a:t>640 Cylinders (High mechanical wear and arm thrashing)</a:t>
            </a:r>
          </a:p>
        </p:txBody>
      </p:sp>
      <p:sp>
        <p:nvSpPr>
          <p:cNvPr id="6" name="TextBox 5"/>
          <p:cNvSpPr txBox="1"/>
          <p:nvPr/>
        </p:nvSpPr>
        <p:spPr>
          <a:xfrm>
            <a:off x="6126480" y="1645920"/>
            <a:ext cx="5303520" cy="320040"/>
          </a:xfrm>
          <a:prstGeom prst="rect">
            <a:avLst/>
          </a:prstGeom>
          <a:noFill/>
        </p:spPr>
        <p:txBody>
          <a:bodyPr wrap="none">
            <a:spAutoFit/>
          </a:bodyPr>
          <a:lstStyle/>
          <a:p>
            <a:pPr>
              <a:defRPr sz="1050" b="1">
                <a:solidFill>
                  <a:srgbClr val="FBBF24"/>
                </a:solidFill>
                <a:latin typeface="Segoe UI"/>
              </a:defRPr>
            </a:pPr>
            <a:r>
              <a:t>STEP-BY-STEP EXECUTION TRACE: SCAN ELEVATOR (INITIAL H0 = 53)</a:t>
            </a:r>
          </a:p>
        </p:txBody>
      </p:sp>
      <p:graphicFrame>
        <p:nvGraphicFramePr>
          <p:cNvPr id="7" name="Table 6"/>
          <p:cNvGraphicFramePr>
            <a:graphicFrameLocks noGrp="1"/>
          </p:cNvGraphicFramePr>
          <p:nvPr/>
        </p:nvGraphicFramePr>
        <p:xfrm>
          <a:off x="6126480" y="2011680"/>
          <a:ext cx="5303520" cy="4206240"/>
        </p:xfrm>
        <a:graphic>
          <a:graphicData uri="http://schemas.openxmlformats.org/drawingml/2006/table">
            <a:tbl>
              <a:tblPr firstRow="1" bandRow="1">
                <a:tableStyleId>{5C22544A-7EE6-4342-B048-85BDC9FD1C3A}</a:tableStyleId>
              </a:tblPr>
              <a:tblGrid>
                <a:gridCol w="1005840"/>
                <a:gridCol w="1005840"/>
                <a:gridCol w="1005840"/>
                <a:gridCol w="1097280"/>
                <a:gridCol w="1188720"/>
              </a:tblGrid>
              <a:tr h="382385">
                <a:tc>
                  <a:txBody>
                    <a:bodyPr/>
                    <a:lstStyle/>
                    <a:p>
                      <a:pPr algn="ctr">
                        <a:defRPr sz="950" b="1">
                          <a:solidFill>
                            <a:srgbClr val="38BDF8"/>
                          </a:solidFill>
                          <a:latin typeface="Segoe UI"/>
                        </a:defRPr>
                      </a:pPr>
                      <a:r>
                        <a:t>Step</a:t>
                      </a:r>
                    </a:p>
                  </a:txBody>
                  <a:tcPr>
                    <a:solidFill>
                      <a:srgbClr val="0F172A"/>
                    </a:solidFill>
                  </a:tcPr>
                </a:tc>
                <a:tc>
                  <a:txBody>
                    <a:bodyPr/>
                    <a:lstStyle/>
                    <a:p>
                      <a:pPr algn="ctr">
                        <a:defRPr sz="950" b="1">
                          <a:solidFill>
                            <a:srgbClr val="38BDF8"/>
                          </a:solidFill>
                          <a:latin typeface="Segoe UI"/>
                        </a:defRPr>
                      </a:pPr>
                      <a:r>
                        <a:t>Target Cyl</a:t>
                      </a:r>
                    </a:p>
                  </a:txBody>
                  <a:tcPr>
                    <a:solidFill>
                      <a:srgbClr val="0F172A"/>
                    </a:solidFill>
                  </a:tcPr>
                </a:tc>
                <a:tc>
                  <a:txBody>
                    <a:bodyPr/>
                    <a:lstStyle/>
                    <a:p>
                      <a:pPr algn="ctr">
                        <a:defRPr sz="950" b="1">
                          <a:solidFill>
                            <a:srgbClr val="38BDF8"/>
                          </a:solidFill>
                          <a:latin typeface="Segoe UI"/>
                        </a:defRPr>
                      </a:pPr>
                      <a:r>
                        <a:t>Direction</a:t>
                      </a:r>
                    </a:p>
                  </a:txBody>
                  <a:tcPr>
                    <a:solidFill>
                      <a:srgbClr val="0F172A"/>
                    </a:solidFill>
                  </a:tcPr>
                </a:tc>
                <a:tc>
                  <a:txBody>
                    <a:bodyPr/>
                    <a:lstStyle/>
                    <a:p>
                      <a:pPr algn="ctr">
                        <a:defRPr sz="950" b="1">
                          <a:solidFill>
                            <a:srgbClr val="38BDF8"/>
                          </a:solidFill>
                          <a:latin typeface="Segoe UI"/>
                        </a:defRPr>
                      </a:pPr>
                      <a:r>
                        <a:t>Seek Delta</a:t>
                      </a:r>
                    </a:p>
                  </a:txBody>
                  <a:tcPr>
                    <a:solidFill>
                      <a:srgbClr val="0F172A"/>
                    </a:solidFill>
                  </a:tcPr>
                </a:tc>
                <a:tc>
                  <a:txBody>
                    <a:bodyPr/>
                    <a:lstStyle/>
                    <a:p>
                      <a:pPr algn="ctr">
                        <a:defRPr sz="950" b="1">
                          <a:solidFill>
                            <a:srgbClr val="38BDF8"/>
                          </a:solidFill>
                          <a:latin typeface="Segoe UI"/>
                        </a:defRPr>
                      </a:pPr>
                      <a:r>
                        <a:t>Cumulative</a:t>
                      </a:r>
                    </a:p>
                  </a:txBody>
                  <a:tcPr>
                    <a:solidFill>
                      <a:srgbClr val="0F172A"/>
                    </a:solidFill>
                  </a:tcPr>
                </a:tc>
              </a:tr>
              <a:tr h="382385">
                <a:tc>
                  <a:txBody>
                    <a:bodyPr/>
                    <a:lstStyle/>
                    <a:p>
                      <a:pPr algn="ctr">
                        <a:defRPr sz="900">
                          <a:latin typeface="Segoe UI"/>
                        </a:defRPr>
                      </a:pPr>
                      <a:r>
                        <a:t>Start</a:t>
                      </a:r>
                    </a:p>
                  </a:txBody>
                  <a:tcPr>
                    <a:solidFill>
                      <a:srgbClr val="172541"/>
                    </a:solidFill>
                  </a:tcPr>
                </a:tc>
                <a:tc>
                  <a:txBody>
                    <a:bodyPr/>
                    <a:lstStyle/>
                    <a:p>
                      <a:pPr algn="ctr">
                        <a:defRPr sz="900">
                          <a:latin typeface="Segoe UI"/>
                        </a:defRPr>
                      </a:pPr>
                      <a:r>
                        <a:t>53</a:t>
                      </a:r>
                    </a:p>
                  </a:txBody>
                  <a:tcPr>
                    <a:solidFill>
                      <a:srgbClr val="172541"/>
                    </a:solidFill>
                  </a:tcPr>
                </a:tc>
                <a:tc>
                  <a:txBody>
                    <a:bodyPr/>
                    <a:lstStyle/>
                    <a:p>
                      <a:pPr algn="ctr">
                        <a:defRPr sz="900">
                          <a:latin typeface="Segoe UI"/>
                        </a:defRPr>
                      </a:pPr>
                      <a:r>
                        <a:t>High -&gt;</a:t>
                      </a:r>
                    </a:p>
                  </a:txBody>
                  <a:tcPr>
                    <a:solidFill>
                      <a:srgbClr val="172541"/>
                    </a:solidFill>
                  </a:tcPr>
                </a:tc>
                <a:tc>
                  <a:txBody>
                    <a:bodyPr/>
                    <a:lstStyle/>
                    <a:p>
                      <a:pPr algn="ctr">
                        <a:defRPr sz="900">
                          <a:latin typeface="Segoe UI"/>
                        </a:defRPr>
                      </a:pPr>
                      <a:r>
                        <a:t>0</a:t>
                      </a:r>
                    </a:p>
                  </a:txBody>
                  <a:tcPr>
                    <a:solidFill>
                      <a:srgbClr val="172541"/>
                    </a:solidFill>
                  </a:tcPr>
                </a:tc>
                <a:tc>
                  <a:txBody>
                    <a:bodyPr/>
                    <a:lstStyle/>
                    <a:p>
                      <a:pPr algn="ctr">
                        <a:defRPr sz="900">
                          <a:latin typeface="Segoe UI"/>
                        </a:defRPr>
                      </a:pPr>
                      <a:r>
                        <a:t>0 Cyl</a:t>
                      </a:r>
                    </a:p>
                  </a:txBody>
                  <a:tcPr>
                    <a:solidFill>
                      <a:srgbClr val="172541"/>
                    </a:solidFill>
                  </a:tcPr>
                </a:tc>
              </a:tr>
              <a:tr h="382385">
                <a:tc>
                  <a:txBody>
                    <a:bodyPr/>
                    <a:lstStyle/>
                    <a:p>
                      <a:pPr algn="ctr">
                        <a:defRPr sz="900">
                          <a:latin typeface="Segoe UI"/>
                        </a:defRPr>
                      </a:pPr>
                      <a:r>
                        <a:t>Step 1</a:t>
                      </a:r>
                    </a:p>
                  </a:txBody>
                  <a:tcPr>
                    <a:solidFill>
                      <a:srgbClr val="121E34"/>
                    </a:solidFill>
                  </a:tcPr>
                </a:tc>
                <a:tc>
                  <a:txBody>
                    <a:bodyPr/>
                    <a:lstStyle/>
                    <a:p>
                      <a:pPr algn="ctr">
                        <a:defRPr sz="900">
                          <a:latin typeface="Segoe UI"/>
                        </a:defRPr>
                      </a:pPr>
                      <a:r>
                        <a:t>65</a:t>
                      </a:r>
                    </a:p>
                  </a:txBody>
                  <a:tcPr>
                    <a:solidFill>
                      <a:srgbClr val="121E34"/>
                    </a:solidFill>
                  </a:tcPr>
                </a:tc>
                <a:tc>
                  <a:txBody>
                    <a:bodyPr/>
                    <a:lstStyle/>
                    <a:p>
                      <a:pPr algn="ctr">
                        <a:defRPr sz="900">
                          <a:latin typeface="Segoe UI"/>
                        </a:defRPr>
                      </a:pPr>
                      <a:r>
                        <a:t>High -&gt;</a:t>
                      </a:r>
                    </a:p>
                  </a:txBody>
                  <a:tcPr>
                    <a:solidFill>
                      <a:srgbClr val="121E34"/>
                    </a:solidFill>
                  </a:tcPr>
                </a:tc>
                <a:tc>
                  <a:txBody>
                    <a:bodyPr/>
                    <a:lstStyle/>
                    <a:p>
                      <a:pPr algn="ctr">
                        <a:defRPr sz="900">
                          <a:latin typeface="Segoe UI"/>
                        </a:defRPr>
                      </a:pPr>
                      <a:r>
                        <a:t>+12</a:t>
                      </a:r>
                    </a:p>
                  </a:txBody>
                  <a:tcPr>
                    <a:solidFill>
                      <a:srgbClr val="121E34"/>
                    </a:solidFill>
                  </a:tcPr>
                </a:tc>
                <a:tc>
                  <a:txBody>
                    <a:bodyPr/>
                    <a:lstStyle/>
                    <a:p>
                      <a:pPr algn="ctr">
                        <a:defRPr sz="900">
                          <a:latin typeface="Segoe UI"/>
                        </a:defRPr>
                      </a:pPr>
                      <a:r>
                        <a:t>12 Cyl</a:t>
                      </a:r>
                    </a:p>
                  </a:txBody>
                  <a:tcPr>
                    <a:solidFill>
                      <a:srgbClr val="121E34"/>
                    </a:solidFill>
                  </a:tcPr>
                </a:tc>
              </a:tr>
              <a:tr h="382385">
                <a:tc>
                  <a:txBody>
                    <a:bodyPr/>
                    <a:lstStyle/>
                    <a:p>
                      <a:pPr algn="ctr">
                        <a:defRPr sz="900">
                          <a:latin typeface="Segoe UI"/>
                        </a:defRPr>
                      </a:pPr>
                      <a:r>
                        <a:t>Step 2</a:t>
                      </a:r>
                    </a:p>
                  </a:txBody>
                  <a:tcPr>
                    <a:solidFill>
                      <a:srgbClr val="172541"/>
                    </a:solidFill>
                  </a:tcPr>
                </a:tc>
                <a:tc>
                  <a:txBody>
                    <a:bodyPr/>
                    <a:lstStyle/>
                    <a:p>
                      <a:pPr algn="ctr">
                        <a:defRPr sz="900">
                          <a:latin typeface="Segoe UI"/>
                        </a:defRPr>
                      </a:pPr>
                      <a:r>
                        <a:t>67</a:t>
                      </a:r>
                    </a:p>
                  </a:txBody>
                  <a:tcPr>
                    <a:solidFill>
                      <a:srgbClr val="172541"/>
                    </a:solidFill>
                  </a:tcPr>
                </a:tc>
                <a:tc>
                  <a:txBody>
                    <a:bodyPr/>
                    <a:lstStyle/>
                    <a:p>
                      <a:pPr algn="ctr">
                        <a:defRPr sz="900">
                          <a:latin typeface="Segoe UI"/>
                        </a:defRPr>
                      </a:pPr>
                      <a:r>
                        <a:t>High -&gt;</a:t>
                      </a:r>
                    </a:p>
                  </a:txBody>
                  <a:tcPr>
                    <a:solidFill>
                      <a:srgbClr val="172541"/>
                    </a:solidFill>
                  </a:tcPr>
                </a:tc>
                <a:tc>
                  <a:txBody>
                    <a:bodyPr/>
                    <a:lstStyle/>
                    <a:p>
                      <a:pPr algn="ctr">
                        <a:defRPr sz="900">
                          <a:latin typeface="Segoe UI"/>
                        </a:defRPr>
                      </a:pPr>
                      <a:r>
                        <a:t>+2</a:t>
                      </a:r>
                    </a:p>
                  </a:txBody>
                  <a:tcPr>
                    <a:solidFill>
                      <a:srgbClr val="172541"/>
                    </a:solidFill>
                  </a:tcPr>
                </a:tc>
                <a:tc>
                  <a:txBody>
                    <a:bodyPr/>
                    <a:lstStyle/>
                    <a:p>
                      <a:pPr algn="ctr">
                        <a:defRPr sz="900">
                          <a:latin typeface="Segoe UI"/>
                        </a:defRPr>
                      </a:pPr>
                      <a:r>
                        <a:t>14 Cyl</a:t>
                      </a:r>
                    </a:p>
                  </a:txBody>
                  <a:tcPr>
                    <a:solidFill>
                      <a:srgbClr val="172541"/>
                    </a:solidFill>
                  </a:tcPr>
                </a:tc>
              </a:tr>
              <a:tr h="382385">
                <a:tc>
                  <a:txBody>
                    <a:bodyPr/>
                    <a:lstStyle/>
                    <a:p>
                      <a:pPr algn="ctr">
                        <a:defRPr sz="900">
                          <a:latin typeface="Segoe UI"/>
                        </a:defRPr>
                      </a:pPr>
                      <a:r>
                        <a:t>Step 3</a:t>
                      </a:r>
                    </a:p>
                  </a:txBody>
                  <a:tcPr>
                    <a:solidFill>
                      <a:srgbClr val="121E34"/>
                    </a:solidFill>
                  </a:tcPr>
                </a:tc>
                <a:tc>
                  <a:txBody>
                    <a:bodyPr/>
                    <a:lstStyle/>
                    <a:p>
                      <a:pPr algn="ctr">
                        <a:defRPr sz="900">
                          <a:latin typeface="Segoe UI"/>
                        </a:defRPr>
                      </a:pPr>
                      <a:r>
                        <a:t>98</a:t>
                      </a:r>
                    </a:p>
                  </a:txBody>
                  <a:tcPr>
                    <a:solidFill>
                      <a:srgbClr val="121E34"/>
                    </a:solidFill>
                  </a:tcPr>
                </a:tc>
                <a:tc>
                  <a:txBody>
                    <a:bodyPr/>
                    <a:lstStyle/>
                    <a:p>
                      <a:pPr algn="ctr">
                        <a:defRPr sz="900">
                          <a:latin typeface="Segoe UI"/>
                        </a:defRPr>
                      </a:pPr>
                      <a:r>
                        <a:t>High -&gt;</a:t>
                      </a:r>
                    </a:p>
                  </a:txBody>
                  <a:tcPr>
                    <a:solidFill>
                      <a:srgbClr val="121E34"/>
                    </a:solidFill>
                  </a:tcPr>
                </a:tc>
                <a:tc>
                  <a:txBody>
                    <a:bodyPr/>
                    <a:lstStyle/>
                    <a:p>
                      <a:pPr algn="ctr">
                        <a:defRPr sz="900">
                          <a:latin typeface="Segoe UI"/>
                        </a:defRPr>
                      </a:pPr>
                      <a:r>
                        <a:t>+31</a:t>
                      </a:r>
                    </a:p>
                  </a:txBody>
                  <a:tcPr>
                    <a:solidFill>
                      <a:srgbClr val="121E34"/>
                    </a:solidFill>
                  </a:tcPr>
                </a:tc>
                <a:tc>
                  <a:txBody>
                    <a:bodyPr/>
                    <a:lstStyle/>
                    <a:p>
                      <a:pPr algn="ctr">
                        <a:defRPr sz="900">
                          <a:latin typeface="Segoe UI"/>
                        </a:defRPr>
                      </a:pPr>
                      <a:r>
                        <a:t>45 Cyl</a:t>
                      </a:r>
                    </a:p>
                  </a:txBody>
                  <a:tcPr>
                    <a:solidFill>
                      <a:srgbClr val="121E34"/>
                    </a:solidFill>
                  </a:tcPr>
                </a:tc>
              </a:tr>
              <a:tr h="382385">
                <a:tc>
                  <a:txBody>
                    <a:bodyPr/>
                    <a:lstStyle/>
                    <a:p>
                      <a:pPr algn="ctr">
                        <a:defRPr sz="900">
                          <a:latin typeface="Segoe UI"/>
                        </a:defRPr>
                      </a:pPr>
                      <a:r>
                        <a:t>Step 4</a:t>
                      </a:r>
                    </a:p>
                  </a:txBody>
                  <a:tcPr>
                    <a:solidFill>
                      <a:srgbClr val="172541"/>
                    </a:solidFill>
                  </a:tcPr>
                </a:tc>
                <a:tc>
                  <a:txBody>
                    <a:bodyPr/>
                    <a:lstStyle/>
                    <a:p>
                      <a:pPr algn="ctr">
                        <a:defRPr sz="900">
                          <a:latin typeface="Segoe UI"/>
                        </a:defRPr>
                      </a:pPr>
                      <a:r>
                        <a:t>122</a:t>
                      </a:r>
                    </a:p>
                  </a:txBody>
                  <a:tcPr>
                    <a:solidFill>
                      <a:srgbClr val="172541"/>
                    </a:solidFill>
                  </a:tcPr>
                </a:tc>
                <a:tc>
                  <a:txBody>
                    <a:bodyPr/>
                    <a:lstStyle/>
                    <a:p>
                      <a:pPr algn="ctr">
                        <a:defRPr sz="900">
                          <a:latin typeface="Segoe UI"/>
                        </a:defRPr>
                      </a:pPr>
                      <a:r>
                        <a:t>High -&gt;</a:t>
                      </a:r>
                    </a:p>
                  </a:txBody>
                  <a:tcPr>
                    <a:solidFill>
                      <a:srgbClr val="172541"/>
                    </a:solidFill>
                  </a:tcPr>
                </a:tc>
                <a:tc>
                  <a:txBody>
                    <a:bodyPr/>
                    <a:lstStyle/>
                    <a:p>
                      <a:pPr algn="ctr">
                        <a:defRPr sz="900">
                          <a:latin typeface="Segoe UI"/>
                        </a:defRPr>
                      </a:pPr>
                      <a:r>
                        <a:t>+24</a:t>
                      </a:r>
                    </a:p>
                  </a:txBody>
                  <a:tcPr>
                    <a:solidFill>
                      <a:srgbClr val="172541"/>
                    </a:solidFill>
                  </a:tcPr>
                </a:tc>
                <a:tc>
                  <a:txBody>
                    <a:bodyPr/>
                    <a:lstStyle/>
                    <a:p>
                      <a:pPr algn="ctr">
                        <a:defRPr sz="900">
                          <a:latin typeface="Segoe UI"/>
                        </a:defRPr>
                      </a:pPr>
                      <a:r>
                        <a:t>69 Cyl</a:t>
                      </a:r>
                    </a:p>
                  </a:txBody>
                  <a:tcPr>
                    <a:solidFill>
                      <a:srgbClr val="172541"/>
                    </a:solidFill>
                  </a:tcPr>
                </a:tc>
              </a:tr>
              <a:tr h="382385">
                <a:tc>
                  <a:txBody>
                    <a:bodyPr/>
                    <a:lstStyle/>
                    <a:p>
                      <a:pPr algn="ctr">
                        <a:defRPr sz="900">
                          <a:latin typeface="Segoe UI"/>
                        </a:defRPr>
                      </a:pPr>
                      <a:r>
                        <a:t>Step 5</a:t>
                      </a:r>
                    </a:p>
                  </a:txBody>
                  <a:tcPr>
                    <a:solidFill>
                      <a:srgbClr val="121E34"/>
                    </a:solidFill>
                  </a:tcPr>
                </a:tc>
                <a:tc>
                  <a:txBody>
                    <a:bodyPr/>
                    <a:lstStyle/>
                    <a:p>
                      <a:pPr algn="ctr">
                        <a:defRPr sz="900">
                          <a:latin typeface="Segoe UI"/>
                        </a:defRPr>
                      </a:pPr>
                      <a:r>
                        <a:t>124</a:t>
                      </a:r>
                    </a:p>
                  </a:txBody>
                  <a:tcPr>
                    <a:solidFill>
                      <a:srgbClr val="121E34"/>
                    </a:solidFill>
                  </a:tcPr>
                </a:tc>
                <a:tc>
                  <a:txBody>
                    <a:bodyPr/>
                    <a:lstStyle/>
                    <a:p>
                      <a:pPr algn="ctr">
                        <a:defRPr sz="900">
                          <a:latin typeface="Segoe UI"/>
                        </a:defRPr>
                      </a:pPr>
                      <a:r>
                        <a:t>High -&gt;</a:t>
                      </a:r>
                    </a:p>
                  </a:txBody>
                  <a:tcPr>
                    <a:solidFill>
                      <a:srgbClr val="121E34"/>
                    </a:solidFill>
                  </a:tcPr>
                </a:tc>
                <a:tc>
                  <a:txBody>
                    <a:bodyPr/>
                    <a:lstStyle/>
                    <a:p>
                      <a:pPr algn="ctr">
                        <a:defRPr sz="900">
                          <a:latin typeface="Segoe UI"/>
                        </a:defRPr>
                      </a:pPr>
                      <a:r>
                        <a:t>+2</a:t>
                      </a:r>
                    </a:p>
                  </a:txBody>
                  <a:tcPr>
                    <a:solidFill>
                      <a:srgbClr val="121E34"/>
                    </a:solidFill>
                  </a:tcPr>
                </a:tc>
                <a:tc>
                  <a:txBody>
                    <a:bodyPr/>
                    <a:lstStyle/>
                    <a:p>
                      <a:pPr algn="ctr">
                        <a:defRPr sz="900">
                          <a:latin typeface="Segoe UI"/>
                        </a:defRPr>
                      </a:pPr>
                      <a:r>
                        <a:t>71 Cyl</a:t>
                      </a:r>
                    </a:p>
                  </a:txBody>
                  <a:tcPr>
                    <a:solidFill>
                      <a:srgbClr val="121E34"/>
                    </a:solidFill>
                  </a:tcPr>
                </a:tc>
              </a:tr>
              <a:tr h="382385">
                <a:tc>
                  <a:txBody>
                    <a:bodyPr/>
                    <a:lstStyle/>
                    <a:p>
                      <a:pPr algn="ctr">
                        <a:defRPr sz="900">
                          <a:latin typeface="Segoe UI"/>
                        </a:defRPr>
                      </a:pPr>
                      <a:r>
                        <a:t>Step 6</a:t>
                      </a:r>
                    </a:p>
                  </a:txBody>
                  <a:tcPr>
                    <a:solidFill>
                      <a:srgbClr val="172541"/>
                    </a:solidFill>
                  </a:tcPr>
                </a:tc>
                <a:tc>
                  <a:txBody>
                    <a:bodyPr/>
                    <a:lstStyle/>
                    <a:p>
                      <a:pPr algn="ctr">
                        <a:defRPr sz="900">
                          <a:latin typeface="Segoe UI"/>
                        </a:defRPr>
                      </a:pPr>
                      <a:r>
                        <a:t>183</a:t>
                      </a:r>
                    </a:p>
                  </a:txBody>
                  <a:tcPr>
                    <a:solidFill>
                      <a:srgbClr val="172541"/>
                    </a:solidFill>
                  </a:tcPr>
                </a:tc>
                <a:tc>
                  <a:txBody>
                    <a:bodyPr/>
                    <a:lstStyle/>
                    <a:p>
                      <a:pPr algn="ctr">
                        <a:defRPr sz="900">
                          <a:latin typeface="Segoe UI"/>
                        </a:defRPr>
                      </a:pPr>
                      <a:r>
                        <a:t>High -&gt;</a:t>
                      </a:r>
                    </a:p>
                  </a:txBody>
                  <a:tcPr>
                    <a:solidFill>
                      <a:srgbClr val="172541"/>
                    </a:solidFill>
                  </a:tcPr>
                </a:tc>
                <a:tc>
                  <a:txBody>
                    <a:bodyPr/>
                    <a:lstStyle/>
                    <a:p>
                      <a:pPr algn="ctr">
                        <a:defRPr sz="900">
                          <a:latin typeface="Segoe UI"/>
                        </a:defRPr>
                      </a:pPr>
                      <a:r>
                        <a:t>+59</a:t>
                      </a:r>
                    </a:p>
                  </a:txBody>
                  <a:tcPr>
                    <a:solidFill>
                      <a:srgbClr val="172541"/>
                    </a:solidFill>
                  </a:tcPr>
                </a:tc>
                <a:tc>
                  <a:txBody>
                    <a:bodyPr/>
                    <a:lstStyle/>
                    <a:p>
                      <a:pPr algn="ctr">
                        <a:defRPr sz="900">
                          <a:latin typeface="Segoe UI"/>
                        </a:defRPr>
                      </a:pPr>
                      <a:r>
                        <a:t>130 Cyl</a:t>
                      </a:r>
                    </a:p>
                  </a:txBody>
                  <a:tcPr>
                    <a:solidFill>
                      <a:srgbClr val="172541"/>
                    </a:solidFill>
                  </a:tcPr>
                </a:tc>
              </a:tr>
              <a:tr h="382385">
                <a:tc>
                  <a:txBody>
                    <a:bodyPr/>
                    <a:lstStyle/>
                    <a:p>
                      <a:pPr algn="ctr">
                        <a:defRPr sz="900" b="1">
                          <a:solidFill>
                            <a:srgbClr val="FBBF24"/>
                          </a:solidFill>
                          <a:latin typeface="Segoe UI"/>
                        </a:defRPr>
                      </a:pPr>
                      <a:r>
                        <a:t>Step 7</a:t>
                      </a:r>
                    </a:p>
                  </a:txBody>
                  <a:tcPr>
                    <a:solidFill>
                      <a:srgbClr val="121E34"/>
                    </a:solidFill>
                  </a:tcPr>
                </a:tc>
                <a:tc>
                  <a:txBody>
                    <a:bodyPr/>
                    <a:lstStyle/>
                    <a:p>
                      <a:pPr algn="ctr">
                        <a:defRPr sz="900" b="1">
                          <a:solidFill>
                            <a:srgbClr val="FBBF24"/>
                          </a:solidFill>
                          <a:latin typeface="Segoe UI"/>
                        </a:defRPr>
                      </a:pPr>
                      <a:r>
                        <a:t>199</a:t>
                      </a:r>
                    </a:p>
                  </a:txBody>
                  <a:tcPr>
                    <a:solidFill>
                      <a:srgbClr val="121E34"/>
                    </a:solidFill>
                  </a:tcPr>
                </a:tc>
                <a:tc>
                  <a:txBody>
                    <a:bodyPr/>
                    <a:lstStyle/>
                    <a:p>
                      <a:pPr algn="ctr">
                        <a:defRPr sz="900" b="1">
                          <a:solidFill>
                            <a:srgbClr val="FBBF24"/>
                          </a:solidFill>
                          <a:latin typeface="Segoe UI"/>
                        </a:defRPr>
                      </a:pPr>
                      <a:r>
                        <a:t>Boundary</a:t>
                      </a:r>
                    </a:p>
                  </a:txBody>
                  <a:tcPr>
                    <a:solidFill>
                      <a:srgbClr val="121E34"/>
                    </a:solidFill>
                  </a:tcPr>
                </a:tc>
                <a:tc>
                  <a:txBody>
                    <a:bodyPr/>
                    <a:lstStyle/>
                    <a:p>
                      <a:pPr algn="ctr">
                        <a:defRPr sz="900" b="1">
                          <a:solidFill>
                            <a:srgbClr val="FBBF24"/>
                          </a:solidFill>
                          <a:latin typeface="Segoe UI"/>
                        </a:defRPr>
                      </a:pPr>
                      <a:r>
                        <a:t>+16</a:t>
                      </a:r>
                    </a:p>
                  </a:txBody>
                  <a:tcPr>
                    <a:solidFill>
                      <a:srgbClr val="121E34"/>
                    </a:solidFill>
                  </a:tcPr>
                </a:tc>
                <a:tc>
                  <a:txBody>
                    <a:bodyPr/>
                    <a:lstStyle/>
                    <a:p>
                      <a:pPr algn="ctr">
                        <a:defRPr sz="900" b="1">
                          <a:solidFill>
                            <a:srgbClr val="FBBF24"/>
                          </a:solidFill>
                          <a:latin typeface="Segoe UI"/>
                        </a:defRPr>
                      </a:pPr>
                      <a:r>
                        <a:t>146 Cyl (Turnaround)</a:t>
                      </a:r>
                    </a:p>
                  </a:txBody>
                  <a:tcPr>
                    <a:solidFill>
                      <a:srgbClr val="121E34"/>
                    </a:solidFill>
                  </a:tcPr>
                </a:tc>
              </a:tr>
              <a:tr h="382385">
                <a:tc>
                  <a:txBody>
                    <a:bodyPr/>
                    <a:lstStyle/>
                    <a:p>
                      <a:pPr algn="ctr">
                        <a:defRPr sz="900">
                          <a:latin typeface="Segoe UI"/>
                        </a:defRPr>
                      </a:pPr>
                      <a:r>
                        <a:t>Step 8</a:t>
                      </a:r>
                    </a:p>
                  </a:txBody>
                  <a:tcPr>
                    <a:solidFill>
                      <a:srgbClr val="172541"/>
                    </a:solidFill>
                  </a:tcPr>
                </a:tc>
                <a:tc>
                  <a:txBody>
                    <a:bodyPr/>
                    <a:lstStyle/>
                    <a:p>
                      <a:pPr algn="ctr">
                        <a:defRPr sz="900">
                          <a:latin typeface="Segoe UI"/>
                        </a:defRPr>
                      </a:pPr>
                      <a:r>
                        <a:t>37</a:t>
                      </a:r>
                    </a:p>
                  </a:txBody>
                  <a:tcPr>
                    <a:solidFill>
                      <a:srgbClr val="172541"/>
                    </a:solidFill>
                  </a:tcPr>
                </a:tc>
                <a:tc>
                  <a:txBody>
                    <a:bodyPr/>
                    <a:lstStyle/>
                    <a:p>
                      <a:pPr algn="ctr">
                        <a:defRPr sz="900">
                          <a:latin typeface="Segoe UI"/>
                        </a:defRPr>
                      </a:pPr>
                      <a:r>
                        <a:t>Low ⬅</a:t>
                      </a:r>
                    </a:p>
                  </a:txBody>
                  <a:tcPr>
                    <a:solidFill>
                      <a:srgbClr val="172541"/>
                    </a:solidFill>
                  </a:tcPr>
                </a:tc>
                <a:tc>
                  <a:txBody>
                    <a:bodyPr/>
                    <a:lstStyle/>
                    <a:p>
                      <a:pPr algn="ctr">
                        <a:defRPr sz="900">
                          <a:latin typeface="Segoe UI"/>
                        </a:defRPr>
                      </a:pPr>
                      <a:r>
                        <a:t>+162</a:t>
                      </a:r>
                    </a:p>
                  </a:txBody>
                  <a:tcPr>
                    <a:solidFill>
                      <a:srgbClr val="172541"/>
                    </a:solidFill>
                  </a:tcPr>
                </a:tc>
                <a:tc>
                  <a:txBody>
                    <a:bodyPr/>
                    <a:lstStyle/>
                    <a:p>
                      <a:pPr algn="ctr">
                        <a:defRPr sz="900">
                          <a:latin typeface="Segoe UI"/>
                        </a:defRPr>
                      </a:pPr>
                      <a:r>
                        <a:t>308 Cyl</a:t>
                      </a:r>
                    </a:p>
                  </a:txBody>
                  <a:tcPr>
                    <a:solidFill>
                      <a:srgbClr val="172541"/>
                    </a:solidFill>
                  </a:tcPr>
                </a:tc>
              </a:tr>
              <a:tr h="382390">
                <a:tc>
                  <a:txBody>
                    <a:bodyPr/>
                    <a:lstStyle/>
                    <a:p>
                      <a:pPr algn="ctr">
                        <a:defRPr sz="900" b="1">
                          <a:solidFill>
                            <a:srgbClr val="34D399"/>
                          </a:solidFill>
                          <a:latin typeface="Segoe UI"/>
                        </a:defRPr>
                      </a:pPr>
                      <a:r>
                        <a:t>Step 9</a:t>
                      </a:r>
                    </a:p>
                  </a:txBody>
                  <a:tcPr>
                    <a:solidFill>
                      <a:srgbClr val="121E34"/>
                    </a:solidFill>
                  </a:tcPr>
                </a:tc>
                <a:tc>
                  <a:txBody>
                    <a:bodyPr/>
                    <a:lstStyle/>
                    <a:p>
                      <a:pPr algn="ctr">
                        <a:defRPr sz="900" b="1">
                          <a:solidFill>
                            <a:srgbClr val="34D399"/>
                          </a:solidFill>
                          <a:latin typeface="Segoe UI"/>
                        </a:defRPr>
                      </a:pPr>
                      <a:r>
                        <a:t>14</a:t>
                      </a:r>
                    </a:p>
                  </a:txBody>
                  <a:tcPr>
                    <a:solidFill>
                      <a:srgbClr val="121E34"/>
                    </a:solidFill>
                  </a:tcPr>
                </a:tc>
                <a:tc>
                  <a:txBody>
                    <a:bodyPr/>
                    <a:lstStyle/>
                    <a:p>
                      <a:pPr algn="ctr">
                        <a:defRPr sz="900" b="1">
                          <a:solidFill>
                            <a:srgbClr val="34D399"/>
                          </a:solidFill>
                          <a:latin typeface="Segoe UI"/>
                        </a:defRPr>
                      </a:pPr>
                      <a:r>
                        <a:t>Low ⬅</a:t>
                      </a:r>
                    </a:p>
                  </a:txBody>
                  <a:tcPr>
                    <a:solidFill>
                      <a:srgbClr val="121E34"/>
                    </a:solidFill>
                  </a:tcPr>
                </a:tc>
                <a:tc>
                  <a:txBody>
                    <a:bodyPr/>
                    <a:lstStyle/>
                    <a:p>
                      <a:pPr algn="ctr">
                        <a:defRPr sz="900" b="1">
                          <a:solidFill>
                            <a:srgbClr val="34D399"/>
                          </a:solidFill>
                          <a:latin typeface="Segoe UI"/>
                        </a:defRPr>
                      </a:pPr>
                      <a:r>
                        <a:t>+23</a:t>
                      </a:r>
                    </a:p>
                  </a:txBody>
                  <a:tcPr>
                    <a:solidFill>
                      <a:srgbClr val="121E34"/>
                    </a:solidFill>
                  </a:tcPr>
                </a:tc>
                <a:tc>
                  <a:txBody>
                    <a:bodyPr/>
                    <a:lstStyle/>
                    <a:p>
                      <a:pPr algn="ctr">
                        <a:defRPr sz="900" b="1">
                          <a:solidFill>
                            <a:srgbClr val="34D399"/>
                          </a:solidFill>
                          <a:latin typeface="Segoe UI"/>
                        </a:defRPr>
                      </a:pPr>
                      <a:r>
                        <a:t>331 Cyl (Final)</a:t>
                      </a:r>
                    </a:p>
                  </a:txBody>
                  <a:tcPr>
                    <a:solidFill>
                      <a:srgbClr val="121E3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MEMBER 4: TRUNAL PAWAR (ROLL NO: 65)  -  PAGE 9 OF REPORT</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Banker's Deadlock Avoidance, Dynamic RAG, Web Shell &amp; Viva Defense</a:t>
            </a:r>
          </a:p>
          <a:p>
            <a:pPr>
              <a:defRPr sz="1100">
                <a:solidFill>
                  <a:srgbClr val="94A3B8"/>
                </a:solidFill>
                <a:latin typeface="Segoe UI"/>
              </a:defRPr>
            </a:pPr>
            <a:r>
              <a:t>Ownership: Dijkstra's Banker's solver, SVG graph cycle detector, non-blocking terminal runner, and heuristic health index</a:t>
            </a:r>
          </a:p>
        </p:txBody>
      </p:sp>
      <p:sp>
        <p:nvSpPr>
          <p:cNvPr id="5" name="Rounded Rectangle 4"/>
          <p:cNvSpPr/>
          <p:nvPr/>
        </p:nvSpPr>
        <p:spPr>
          <a:xfrm>
            <a:off x="731520" y="1645920"/>
            <a:ext cx="512064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F59E0B"/>
                </a:solidFill>
                <a:latin typeface="Segoe UI"/>
              </a:defRPr>
            </a:pPr>
            <a:r>
              <a:t>BANKER'S ALGORITHM, RAG GRAPH &amp; WEB TERMINAL</a:t>
            </a:r>
          </a:p>
          <a:p>
            <a:pPr>
              <a:spcAft>
                <a:spcPts val="600"/>
              </a:spcAft>
            </a:pPr>
            <a:r>
              <a:rPr sz="1050" b="1">
                <a:solidFill>
                  <a:srgbClr val="FFFFFF"/>
                </a:solidFill>
                <a:latin typeface="Segoe UI"/>
              </a:rPr>
              <a:t>▪ Dijkstra's Banker's Safety Algorithm  -  </a:t>
            </a:r>
            <a:r>
              <a:rPr sz="1000">
                <a:solidFill>
                  <a:srgbClr val="94A3B8"/>
                </a:solidFill>
                <a:latin typeface="Segoe UI"/>
              </a:rPr>
              <a:t>Evaluates Need matrix: Need[i][j] = Max[i][j] - Allocation[i][j] across 5 processes (P0-P4) and 3 resource types (A:10, B:5, C:7).</a:t>
            </a:r>
          </a:p>
          <a:p>
            <a:pPr>
              <a:spcAft>
                <a:spcPts val="800"/>
              </a:spcAft>
              <a:defRPr sz="950" b="1">
                <a:solidFill>
                  <a:srgbClr val="34D399"/>
                </a:solidFill>
                <a:latin typeface="Consolas"/>
              </a:defRPr>
            </a:pPr>
            <a:r>
              <a:t>VERIFIED SAFE SEQUENCE:</a:t>
            </a:r>
            <a:br/>
            <a:r>
              <a:t>&lt; P1 -&gt; P3 -&gt; P4 -&gt; P0 -&gt; P2 &gt;</a:t>
            </a:r>
            <a:br/>
            <a:r>
              <a:t>(Available: [3, 3, 2] guarantees zero circular deadlock condition)</a:t>
            </a:r>
          </a:p>
          <a:p>
            <a:pPr>
              <a:spcAft>
                <a:spcPts val="600"/>
              </a:spcAft>
            </a:pPr>
            <a:r>
              <a:rPr sz="1050" b="1">
                <a:solidFill>
                  <a:srgbClr val="FFFFFF"/>
                </a:solidFill>
                <a:latin typeface="Segoe UI"/>
              </a:rPr>
              <a:t>▪ Dynamic Resource Allocation Graph (RAG)  -  </a:t>
            </a:r>
            <a:r>
              <a:rPr sz="1000">
                <a:solidFill>
                  <a:srgbClr val="94A3B8"/>
                </a:solidFill>
                <a:latin typeface="Segoe UI"/>
              </a:rPr>
              <a:t>SVG node-edge visualizer depicting process requests and resource assignments; detects circular wait cycles upon resource exhaustion.</a:t>
            </a:r>
          </a:p>
          <a:p>
            <a:pPr>
              <a:spcAft>
                <a:spcPts val="600"/>
              </a:spcAft>
            </a:pPr>
            <a:r>
              <a:rPr sz="1050" b="1">
                <a:solidFill>
                  <a:srgbClr val="FFFFFF"/>
                </a:solidFill>
                <a:latin typeface="Segoe UI"/>
              </a:rPr>
              <a:t>▪ Embedded Host Web Shell (/api/terminal/execute)  -  </a:t>
            </a:r>
            <a:r>
              <a:rPr sz="1000">
                <a:solidFill>
                  <a:srgbClr val="94A3B8"/>
                </a:solidFill>
                <a:latin typeface="Segoe UI"/>
              </a:rPr>
              <a:t>Asynchronous shell executing native host commands (PowerShell/Bash) with working directory tracking and 15.0s watchdog kill timeout.</a:t>
            </a:r>
          </a:p>
          <a:p>
            <a:pPr>
              <a:spcAft>
                <a:spcPts val="600"/>
              </a:spcAft>
            </a:pPr>
            <a:r>
              <a:rPr sz="1050" b="1">
                <a:solidFill>
                  <a:srgbClr val="FFFFFF"/>
                </a:solidFill>
                <a:latin typeface="Segoe UI"/>
              </a:rPr>
              <a:t>▪ Heuristic Anomaly &amp; Health Engine  -  </a:t>
            </a:r>
            <a:r>
              <a:rPr sz="1000">
                <a:solidFill>
                  <a:srgbClr val="94A3B8"/>
                </a:solidFill>
                <a:latin typeface="Segoe UI"/>
              </a:rPr>
              <a:t>Aggregates core CPU saturation, memory growth trends, and disk latency into a real-time 0–100% System Health Index.</a:t>
            </a:r>
          </a:p>
        </p:txBody>
      </p:sp>
      <p:sp>
        <p:nvSpPr>
          <p:cNvPr id="6" name="Rounded Rectangle 5"/>
          <p:cNvSpPr/>
          <p:nvPr/>
        </p:nvSpPr>
        <p:spPr>
          <a:xfrm>
            <a:off x="6126480" y="1645920"/>
            <a:ext cx="5303520" cy="457200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64592" rIns="164592"/>
          <a:lstStyle/>
          <a:p>
            <a:pPr algn="l">
              <a:defRPr sz="1300" b="1">
                <a:solidFill>
                  <a:srgbClr val="818CF8"/>
                </a:solidFill>
                <a:latin typeface="Segoe UI"/>
              </a:defRPr>
            </a:pPr>
            <a:r>
              <a:t>ORAL TECHNICAL VIVA VOCE DEFENSE (MEMBER 4)</a:t>
            </a:r>
          </a:p>
          <a:p>
            <a:pPr>
              <a:spcAft>
                <a:spcPts val="600"/>
              </a:spcAft>
            </a:pPr>
            <a:r>
              <a:rPr sz="1050" b="1">
                <a:solidFill>
                  <a:srgbClr val="FFFFFF"/>
                </a:solidFill>
                <a:latin typeface="Segoe UI"/>
              </a:rPr>
              <a:t>▪ Q1: Differentiate Unsafe State from Deadlocked State.</a:t>
            </a:r>
          </a:p>
          <a:p>
            <a:pPr>
              <a:spcAft>
                <a:spcPts val="800"/>
              </a:spcAft>
              <a:defRPr sz="950">
                <a:solidFill>
                  <a:srgbClr val="94A3B8"/>
                </a:solidFill>
                <a:latin typeface="Segoe UI"/>
              </a:defRPr>
            </a:pPr>
            <a:r>
              <a:t>Ans: An unsafe state is NOT necessarily a deadlock. It is a state from which the OS cannot guarantee all processes will finish if all request maximum resources simultaneously. A deadlock is an active permanent stall where two or more processes mutually hold resources needed by each other. Deadlocks are a strict subset of unsafe states; Banker's avoids deadlocks by prohibiting transitions into unsafe states.</a:t>
            </a:r>
          </a:p>
          <a:p>
            <a:pPr>
              <a:spcAft>
                <a:spcPts val="600"/>
              </a:spcAft>
            </a:pPr>
            <a:r>
              <a:rPr sz="1050" b="1">
                <a:solidFill>
                  <a:srgbClr val="FFFFFF"/>
                </a:solidFill>
                <a:latin typeface="Segoe UI"/>
              </a:rPr>
              <a:t>▪ Q2: Why is LOOK preferred over SCAN in modern OS drivers?</a:t>
            </a:r>
          </a:p>
          <a:p>
            <a:pPr>
              <a:spcAft>
                <a:spcPts val="800"/>
              </a:spcAft>
              <a:defRPr sz="950">
                <a:solidFill>
                  <a:srgbClr val="94A3B8"/>
                </a:solidFill>
                <a:latin typeface="Segoe UI"/>
              </a:defRPr>
            </a:pPr>
            <a:r>
              <a:t>Ans: Standard SCAN forces the disk arm to travel to cylinder 199 (spindle boundary) even if the highest outstanding request is only cylinder 183, wasting seek time. LOOK inspects the request queue and reverses direction immediately after servicing the furthest request (at 183), saving 32 tracks of mechanical arm movement.</a:t>
            </a:r>
          </a:p>
          <a:p>
            <a:pPr>
              <a:spcAft>
                <a:spcPts val="600"/>
              </a:spcAft>
            </a:pPr>
            <a:r>
              <a:rPr sz="1050" b="1">
                <a:solidFill>
                  <a:srgbClr val="FFFFFF"/>
                </a:solidFill>
                <a:latin typeface="Segoe UI"/>
              </a:rPr>
              <a:t>▪ Q3: How does the web terminal prevent malicious shell hanging?</a:t>
            </a:r>
          </a:p>
          <a:p>
            <a:pPr>
              <a:defRPr sz="950">
                <a:solidFill>
                  <a:srgbClr val="94A3B8"/>
                </a:solidFill>
                <a:latin typeface="Segoe UI"/>
              </a:defRPr>
            </a:pPr>
            <a:r>
              <a:t>Ans: Utilizes asyncio.create_subprocess_shell with asyncio.wait_for(timeout=15.0). If a command exceeds 15 seconds, a SIGTERM signal terminates the entire process group.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EXPERIMENTAL VERIFICATION &amp; RESULTS</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Comprehensive Multi-Algorithm Benchmark Comparison Across All Domains</a:t>
            </a:r>
          </a:p>
          <a:p>
            <a:pPr>
              <a:defRPr sz="1100">
                <a:solidFill>
                  <a:srgbClr val="94A3B8"/>
                </a:solidFill>
                <a:latin typeface="Segoe UI"/>
              </a:defRPr>
            </a:pPr>
            <a:r>
              <a:t>Empirical proof of algorithmic optimality and mechanical efficiency validated on standardized testbeds</a:t>
            </a:r>
          </a:p>
        </p:txBody>
      </p:sp>
      <p:graphicFrame>
        <p:nvGraphicFramePr>
          <p:cNvPr id="5" name="Table 4"/>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286000"/>
                <a:gridCol w="2286000"/>
                <a:gridCol w="2011680"/>
                <a:gridCol w="2133295"/>
              </a:tblGrid>
              <a:tr h="438912">
                <a:tc>
                  <a:txBody>
                    <a:bodyPr/>
                    <a:lstStyle/>
                    <a:p>
                      <a:pPr algn="ctr">
                        <a:defRPr sz="1000" b="1">
                          <a:solidFill>
                            <a:srgbClr val="38BDF8"/>
                          </a:solidFill>
                          <a:latin typeface="Segoe UI"/>
                        </a:defRPr>
                      </a:pPr>
                      <a:r>
                        <a:t>OS Subsystem</a:t>
                      </a:r>
                    </a:p>
                  </a:txBody>
                  <a:tcPr>
                    <a:solidFill>
                      <a:srgbClr val="0F172A"/>
                    </a:solidFill>
                  </a:tcPr>
                </a:tc>
                <a:tc>
                  <a:txBody>
                    <a:bodyPr/>
                    <a:lstStyle/>
                    <a:p>
                      <a:pPr algn="ctr">
                        <a:defRPr sz="1000" b="1">
                          <a:solidFill>
                            <a:srgbClr val="38BDF8"/>
                          </a:solidFill>
                          <a:latin typeface="Segoe UI"/>
                        </a:defRPr>
                      </a:pPr>
                      <a:r>
                        <a:t>Algorithm / Configuration</a:t>
                      </a:r>
                    </a:p>
                  </a:txBody>
                  <a:tcPr>
                    <a:solidFill>
                      <a:srgbClr val="0F172A"/>
                    </a:solidFill>
                  </a:tcPr>
                </a:tc>
                <a:tc>
                  <a:txBody>
                    <a:bodyPr/>
                    <a:lstStyle/>
                    <a:p>
                      <a:pPr algn="ctr">
                        <a:defRPr sz="1000" b="1">
                          <a:solidFill>
                            <a:srgbClr val="38BDF8"/>
                          </a:solidFill>
                          <a:latin typeface="Segoe UI"/>
                        </a:defRPr>
                      </a:pPr>
                      <a:r>
                        <a:t>Evaluated Performance Metric</a:t>
                      </a:r>
                    </a:p>
                  </a:txBody>
                  <a:tcPr>
                    <a:solidFill>
                      <a:srgbClr val="0F172A"/>
                    </a:solidFill>
                  </a:tcPr>
                </a:tc>
                <a:tc>
                  <a:txBody>
                    <a:bodyPr/>
                    <a:lstStyle/>
                    <a:p>
                      <a:pPr algn="ctr">
                        <a:defRPr sz="1000" b="1">
                          <a:solidFill>
                            <a:srgbClr val="38BDF8"/>
                          </a:solidFill>
                          <a:latin typeface="Segoe UI"/>
                        </a:defRPr>
                      </a:pPr>
                      <a:r>
                        <a:t>Comparative Gain</a:t>
                      </a:r>
                    </a:p>
                  </a:txBody>
                  <a:tcPr>
                    <a:solidFill>
                      <a:srgbClr val="0F172A"/>
                    </a:solidFill>
                  </a:tcPr>
                </a:tc>
                <a:tc>
                  <a:txBody>
                    <a:bodyPr/>
                    <a:lstStyle/>
                    <a:p>
                      <a:pPr algn="ctr">
                        <a:defRPr sz="1000" b="1">
                          <a:solidFill>
                            <a:srgbClr val="38BDF8"/>
                          </a:solidFill>
                          <a:latin typeface="Segoe UI"/>
                        </a:defRPr>
                      </a:pPr>
                      <a:r>
                        <a:t>Optimality Verdict</a:t>
                      </a:r>
                    </a:p>
                  </a:txBody>
                  <a:tcPr>
                    <a:solidFill>
                      <a:srgbClr val="0F172A"/>
                    </a:solidFill>
                  </a:tcPr>
                </a:tc>
              </a:tr>
              <a:tr h="438912">
                <a:tc>
                  <a:txBody>
                    <a:bodyPr/>
                    <a:lstStyle/>
                    <a:p>
                      <a:pPr algn="l">
                        <a:defRPr sz="900">
                          <a:latin typeface="Segoe UI"/>
                        </a:defRPr>
                      </a:pPr>
                      <a:r>
                        <a:t>CPU Scheduling</a:t>
                      </a:r>
                    </a:p>
                  </a:txBody>
                  <a:tcPr>
                    <a:solidFill>
                      <a:srgbClr val="172541"/>
                    </a:solidFill>
                  </a:tcPr>
                </a:tc>
                <a:tc>
                  <a:txBody>
                    <a:bodyPr/>
                    <a:lstStyle/>
                    <a:p>
                      <a:pPr algn="l">
                        <a:defRPr sz="900">
                          <a:latin typeface="Segoe UI"/>
                        </a:defRPr>
                      </a:pPr>
                      <a:r>
                        <a:t>SRTF (Preemptive)</a:t>
                      </a:r>
                    </a:p>
                  </a:txBody>
                  <a:tcPr>
                    <a:solidFill>
                      <a:srgbClr val="172541"/>
                    </a:solidFill>
                  </a:tcPr>
                </a:tc>
                <a:tc>
                  <a:txBody>
                    <a:bodyPr/>
                    <a:lstStyle/>
                    <a:p>
                      <a:pPr algn="ctr">
                        <a:defRPr sz="900">
                          <a:latin typeface="Segoe UI"/>
                        </a:defRPr>
                      </a:pPr>
                      <a:r>
                        <a:t>AWT: 4.20 ms | ATAT: 8.20 ms</a:t>
                      </a:r>
                    </a:p>
                  </a:txBody>
                  <a:tcPr>
                    <a:solidFill>
                      <a:srgbClr val="172541"/>
                    </a:solidFill>
                  </a:tcPr>
                </a:tc>
                <a:tc>
                  <a:txBody>
                    <a:bodyPr/>
                    <a:lstStyle/>
                    <a:p>
                      <a:pPr algn="ctr">
                        <a:defRPr sz="900">
                          <a:latin typeface="Segoe UI"/>
                        </a:defRPr>
                      </a:pPr>
                      <a:r>
                        <a:t>+38.2% vs FCFS</a:t>
                      </a:r>
                    </a:p>
                  </a:txBody>
                  <a:tcPr>
                    <a:solidFill>
                      <a:srgbClr val="172541"/>
                    </a:solidFill>
                  </a:tcPr>
                </a:tc>
                <a:tc>
                  <a:txBody>
                    <a:bodyPr/>
                    <a:lstStyle/>
                    <a:p>
                      <a:pPr algn="ctr">
                        <a:defRPr sz="900" b="1">
                          <a:solidFill>
                            <a:srgbClr val="34D399"/>
                          </a:solidFill>
                          <a:latin typeface="Segoe UI"/>
                        </a:defRPr>
                      </a:pPr>
                      <a:r>
                        <a:t>OPTIMAL (Minimum Wait)</a:t>
                      </a:r>
                    </a:p>
                  </a:txBody>
                  <a:tcPr>
                    <a:solidFill>
                      <a:srgbClr val="172541"/>
                    </a:solidFill>
                  </a:tcPr>
                </a:tc>
              </a:tr>
              <a:tr h="438912">
                <a:tc>
                  <a:txBody>
                    <a:bodyPr/>
                    <a:lstStyle/>
                    <a:p>
                      <a:pPr algn="l">
                        <a:defRPr sz="900">
                          <a:latin typeface="Segoe UI"/>
                        </a:defRPr>
                      </a:pPr>
                      <a:r>
                        <a:t>CPU Scheduling</a:t>
                      </a:r>
                    </a:p>
                  </a:txBody>
                  <a:tcPr>
                    <a:solidFill>
                      <a:srgbClr val="121E34"/>
                    </a:solidFill>
                  </a:tcPr>
                </a:tc>
                <a:tc>
                  <a:txBody>
                    <a:bodyPr/>
                    <a:lstStyle/>
                    <a:p>
                      <a:pPr algn="l">
                        <a:defRPr sz="900">
                          <a:latin typeface="Segoe UI"/>
                        </a:defRPr>
                      </a:pPr>
                      <a:r>
                        <a:t>FCFS (Baseline)</a:t>
                      </a:r>
                    </a:p>
                  </a:txBody>
                  <a:tcPr>
                    <a:solidFill>
                      <a:srgbClr val="121E34"/>
                    </a:solidFill>
                  </a:tcPr>
                </a:tc>
                <a:tc>
                  <a:txBody>
                    <a:bodyPr/>
                    <a:lstStyle/>
                    <a:p>
                      <a:pPr algn="ctr">
                        <a:defRPr sz="900">
                          <a:latin typeface="Segoe UI"/>
                        </a:defRPr>
                      </a:pPr>
                      <a:r>
                        <a:t>AWT: 6.80 ms | ATAT: 10.80 ms</a:t>
                      </a:r>
                    </a:p>
                  </a:txBody>
                  <a:tcPr>
                    <a:solidFill>
                      <a:srgbClr val="121E34"/>
                    </a:solidFill>
                  </a:tcPr>
                </a:tc>
                <a:tc>
                  <a:txBody>
                    <a:bodyPr/>
                    <a:lstStyle/>
                    <a:p>
                      <a:pPr algn="ctr">
                        <a:defRPr sz="900">
                          <a:latin typeface="Segoe UI"/>
                        </a:defRPr>
                      </a:pPr>
                      <a:r>
                        <a:t>Baseline</a:t>
                      </a:r>
                    </a:p>
                  </a:txBody>
                  <a:tcPr>
                    <a:solidFill>
                      <a:srgbClr val="121E34"/>
                    </a:solidFill>
                  </a:tcPr>
                </a:tc>
                <a:tc>
                  <a:txBody>
                    <a:bodyPr/>
                    <a:lstStyle/>
                    <a:p>
                      <a:pPr algn="ctr">
                        <a:defRPr sz="900">
                          <a:solidFill>
                            <a:srgbClr val="F43F5E"/>
                          </a:solidFill>
                          <a:latin typeface="Segoe UI"/>
                        </a:defRPr>
                      </a:pPr>
                      <a:r>
                        <a:t>Convoy Effect</a:t>
                      </a:r>
                    </a:p>
                  </a:txBody>
                  <a:tcPr>
                    <a:solidFill>
                      <a:srgbClr val="121E34"/>
                    </a:solidFill>
                  </a:tcPr>
                </a:tc>
              </a:tr>
              <a:tr h="438912">
                <a:tc>
                  <a:txBody>
                    <a:bodyPr/>
                    <a:lstStyle/>
                    <a:p>
                      <a:pPr algn="l">
                        <a:defRPr sz="900">
                          <a:latin typeface="Segoe UI"/>
                        </a:defRPr>
                      </a:pPr>
                      <a:r>
                        <a:t>CPU Scheduling</a:t>
                      </a:r>
                    </a:p>
                  </a:txBody>
                  <a:tcPr>
                    <a:solidFill>
                      <a:srgbClr val="172541"/>
                    </a:solidFill>
                  </a:tcPr>
                </a:tc>
                <a:tc>
                  <a:txBody>
                    <a:bodyPr/>
                    <a:lstStyle/>
                    <a:p>
                      <a:pPr algn="l">
                        <a:defRPr sz="900">
                          <a:latin typeface="Segoe UI"/>
                        </a:defRPr>
                      </a:pPr>
                      <a:r>
                        <a:t>Round Robin (q=2)</a:t>
                      </a:r>
                    </a:p>
                  </a:txBody>
                  <a:tcPr>
                    <a:solidFill>
                      <a:srgbClr val="172541"/>
                    </a:solidFill>
                  </a:tcPr>
                </a:tc>
                <a:tc>
                  <a:txBody>
                    <a:bodyPr/>
                    <a:lstStyle/>
                    <a:p>
                      <a:pPr algn="ctr">
                        <a:defRPr sz="900">
                          <a:latin typeface="Segoe UI"/>
                        </a:defRPr>
                      </a:pPr>
                      <a:r>
                        <a:t>AWT: 7.40 ms | ATAT: 11.40 ms</a:t>
                      </a:r>
                    </a:p>
                  </a:txBody>
                  <a:tcPr>
                    <a:solidFill>
                      <a:srgbClr val="172541"/>
                    </a:solidFill>
                  </a:tcPr>
                </a:tc>
                <a:tc>
                  <a:txBody>
                    <a:bodyPr/>
                    <a:lstStyle/>
                    <a:p>
                      <a:pPr algn="ctr">
                        <a:defRPr sz="900">
                          <a:latin typeface="Segoe UI"/>
                        </a:defRPr>
                      </a:pPr>
                      <a:r>
                        <a:t>-8.8% vs FCFS</a:t>
                      </a:r>
                    </a:p>
                  </a:txBody>
                  <a:tcPr>
                    <a:solidFill>
                      <a:srgbClr val="172541"/>
                    </a:solidFill>
                  </a:tcPr>
                </a:tc>
                <a:tc>
                  <a:txBody>
                    <a:bodyPr/>
                    <a:lstStyle/>
                    <a:p>
                      <a:pPr algn="ctr">
                        <a:defRPr sz="900">
                          <a:solidFill>
                            <a:srgbClr val="F43F5E"/>
                          </a:solidFill>
                          <a:latin typeface="Segoe UI"/>
                        </a:defRPr>
                      </a:pPr>
                      <a:r>
                        <a:t>High Context Switches</a:t>
                      </a:r>
                    </a:p>
                  </a:txBody>
                  <a:tcPr>
                    <a:solidFill>
                      <a:srgbClr val="172541"/>
                    </a:solidFill>
                  </a:tcPr>
                </a:tc>
              </a:tr>
              <a:tr h="438912">
                <a:tc>
                  <a:txBody>
                    <a:bodyPr/>
                    <a:lstStyle/>
                    <a:p>
                      <a:pPr algn="l">
                        <a:defRPr sz="900">
                          <a:latin typeface="Segoe UI"/>
                        </a:defRPr>
                      </a:pPr>
                      <a:r>
                        <a:t>Memory Allocation</a:t>
                      </a:r>
                    </a:p>
                  </a:txBody>
                  <a:tcPr>
                    <a:solidFill>
                      <a:srgbClr val="121E34"/>
                    </a:solidFill>
                  </a:tcPr>
                </a:tc>
                <a:tc>
                  <a:txBody>
                    <a:bodyPr/>
                    <a:lstStyle/>
                    <a:p>
                      <a:pPr algn="l">
                        <a:defRPr sz="900">
                          <a:latin typeface="Segoe UI"/>
                        </a:defRPr>
                      </a:pPr>
                      <a:r>
                        <a:t>First Fit</a:t>
                      </a:r>
                    </a:p>
                  </a:txBody>
                  <a:tcPr>
                    <a:solidFill>
                      <a:srgbClr val="121E34"/>
                    </a:solidFill>
                  </a:tcPr>
                </a:tc>
                <a:tc>
                  <a:txBody>
                    <a:bodyPr/>
                    <a:lstStyle/>
                    <a:p>
                      <a:pPr algn="ctr">
                        <a:defRPr sz="900">
                          <a:latin typeface="Segoe UI"/>
                        </a:defRPr>
                      </a:pPr>
                      <a:r>
                        <a:t>Search Time: 0.42 ms | Frag: 559 KB</a:t>
                      </a:r>
                    </a:p>
                  </a:txBody>
                  <a:tcPr>
                    <a:solidFill>
                      <a:srgbClr val="121E34"/>
                    </a:solidFill>
                  </a:tcPr>
                </a:tc>
                <a:tc>
                  <a:txBody>
                    <a:bodyPr/>
                    <a:lstStyle/>
                    <a:p>
                      <a:pPr algn="ctr">
                        <a:defRPr sz="900">
                          <a:latin typeface="Segoe UI"/>
                        </a:defRPr>
                      </a:pPr>
                      <a:r>
                        <a:t>Fastest search O(n)</a:t>
                      </a:r>
                    </a:p>
                  </a:txBody>
                  <a:tcPr>
                    <a:solidFill>
                      <a:srgbClr val="121E34"/>
                    </a:solidFill>
                  </a:tcPr>
                </a:tc>
                <a:tc>
                  <a:txBody>
                    <a:bodyPr/>
                    <a:lstStyle/>
                    <a:p>
                      <a:pPr algn="ctr">
                        <a:defRPr sz="900" b="1">
                          <a:solidFill>
                            <a:srgbClr val="34D399"/>
                          </a:solidFill>
                          <a:latin typeface="Segoe UI"/>
                        </a:defRPr>
                      </a:pPr>
                      <a:r>
                        <a:t>BEST RUNTIME EFFICIENCY</a:t>
                      </a:r>
                    </a:p>
                  </a:txBody>
                  <a:tcPr>
                    <a:solidFill>
                      <a:srgbClr val="121E34"/>
                    </a:solidFill>
                  </a:tcPr>
                </a:tc>
              </a:tr>
              <a:tr h="438912">
                <a:tc>
                  <a:txBody>
                    <a:bodyPr/>
                    <a:lstStyle/>
                    <a:p>
                      <a:pPr algn="l">
                        <a:defRPr sz="900">
                          <a:latin typeface="Segoe UI"/>
                        </a:defRPr>
                      </a:pPr>
                      <a:r>
                        <a:t>Memory Allocation</a:t>
                      </a:r>
                    </a:p>
                  </a:txBody>
                  <a:tcPr>
                    <a:solidFill>
                      <a:srgbClr val="172541"/>
                    </a:solidFill>
                  </a:tcPr>
                </a:tc>
                <a:tc>
                  <a:txBody>
                    <a:bodyPr/>
                    <a:lstStyle/>
                    <a:p>
                      <a:pPr algn="l">
                        <a:defRPr sz="900">
                          <a:latin typeface="Segoe UI"/>
                        </a:defRPr>
                      </a:pPr>
                      <a:r>
                        <a:t>Compaction Engine</a:t>
                      </a:r>
                    </a:p>
                  </a:txBody>
                  <a:tcPr>
                    <a:solidFill>
                      <a:srgbClr val="172541"/>
                    </a:solidFill>
                  </a:tcPr>
                </a:tc>
                <a:tc>
                  <a:txBody>
                    <a:bodyPr/>
                    <a:lstStyle/>
                    <a:p>
                      <a:pPr algn="ctr">
                        <a:defRPr sz="900">
                          <a:latin typeface="Segoe UI"/>
                        </a:defRPr>
                      </a:pPr>
                      <a:r>
                        <a:t>Fragmented Holes -&gt; 1 Unified Hole</a:t>
                      </a:r>
                    </a:p>
                  </a:txBody>
                  <a:tcPr>
                    <a:solidFill>
                      <a:srgbClr val="172541"/>
                    </a:solidFill>
                  </a:tcPr>
                </a:tc>
                <a:tc>
                  <a:txBody>
                    <a:bodyPr/>
                    <a:lstStyle/>
                    <a:p>
                      <a:pPr algn="ctr">
                        <a:defRPr sz="900">
                          <a:latin typeface="Segoe UI"/>
                        </a:defRPr>
                      </a:pPr>
                      <a:r>
                        <a:t>100% Ext Frag Eliminated</a:t>
                      </a:r>
                    </a:p>
                  </a:txBody>
                  <a:tcPr>
                    <a:solidFill>
                      <a:srgbClr val="172541"/>
                    </a:solidFill>
                  </a:tcPr>
                </a:tc>
                <a:tc>
                  <a:txBody>
                    <a:bodyPr/>
                    <a:lstStyle/>
                    <a:p>
                      <a:pPr algn="ctr">
                        <a:defRPr sz="900" b="1">
                          <a:solidFill>
                            <a:srgbClr val="34D399"/>
                          </a:solidFill>
                          <a:latin typeface="Segoe UI"/>
                        </a:defRPr>
                      </a:pPr>
                      <a:r>
                        <a:t>VERIFIED RELOCATION</a:t>
                      </a:r>
                    </a:p>
                  </a:txBody>
                  <a:tcPr>
                    <a:solidFill>
                      <a:srgbClr val="172541"/>
                    </a:solidFill>
                  </a:tcPr>
                </a:tc>
              </a:tr>
              <a:tr h="438912">
                <a:tc>
                  <a:txBody>
                    <a:bodyPr/>
                    <a:lstStyle/>
                    <a:p>
                      <a:pPr algn="l">
                        <a:defRPr sz="900">
                          <a:latin typeface="Segoe UI"/>
                        </a:defRPr>
                      </a:pPr>
                      <a:r>
                        <a:t>Virtual Paging</a:t>
                      </a:r>
                    </a:p>
                  </a:txBody>
                  <a:tcPr>
                    <a:solidFill>
                      <a:srgbClr val="121E34"/>
                    </a:solidFill>
                  </a:tcPr>
                </a:tc>
                <a:tc>
                  <a:txBody>
                    <a:bodyPr/>
                    <a:lstStyle/>
                    <a:p>
                      <a:pPr algn="l">
                        <a:defRPr sz="900">
                          <a:latin typeface="Segoe UI"/>
                        </a:defRPr>
                      </a:pPr>
                      <a:r>
                        <a:t>Optimal (OPT)</a:t>
                      </a:r>
                    </a:p>
                  </a:txBody>
                  <a:tcPr>
                    <a:solidFill>
                      <a:srgbClr val="121E34"/>
                    </a:solidFill>
                  </a:tcPr>
                </a:tc>
                <a:tc>
                  <a:txBody>
                    <a:bodyPr/>
                    <a:lstStyle/>
                    <a:p>
                      <a:pPr algn="ctr">
                        <a:defRPr sz="900">
                          <a:latin typeface="Segoe UI"/>
                        </a:defRPr>
                      </a:pPr>
                      <a:r>
                        <a:t>9 Faults | 55.0% Hit Ratio (F=3)</a:t>
                      </a:r>
                    </a:p>
                  </a:txBody>
                  <a:tcPr>
                    <a:solidFill>
                      <a:srgbClr val="121E34"/>
                    </a:solidFill>
                  </a:tcPr>
                </a:tc>
                <a:tc>
                  <a:txBody>
                    <a:bodyPr/>
                    <a:lstStyle/>
                    <a:p>
                      <a:pPr algn="ctr">
                        <a:defRPr sz="900">
                          <a:latin typeface="Segoe UI"/>
                        </a:defRPr>
                      </a:pPr>
                      <a:r>
                        <a:t>Theoretical Maximum</a:t>
                      </a:r>
                    </a:p>
                  </a:txBody>
                  <a:tcPr>
                    <a:solidFill>
                      <a:srgbClr val="121E34"/>
                    </a:solidFill>
                  </a:tcPr>
                </a:tc>
                <a:tc>
                  <a:txBody>
                    <a:bodyPr/>
                    <a:lstStyle/>
                    <a:p>
                      <a:pPr algn="ctr">
                        <a:defRPr sz="900">
                          <a:latin typeface="Segoe UI"/>
                        </a:defRPr>
                      </a:pPr>
                      <a:r>
                        <a:t>THEORETICAL CEILING</a:t>
                      </a:r>
                    </a:p>
                  </a:txBody>
                  <a:tcPr>
                    <a:solidFill>
                      <a:srgbClr val="121E34"/>
                    </a:solidFill>
                  </a:tcPr>
                </a:tc>
              </a:tr>
              <a:tr h="438912">
                <a:tc>
                  <a:txBody>
                    <a:bodyPr/>
                    <a:lstStyle/>
                    <a:p>
                      <a:pPr algn="l">
                        <a:defRPr sz="900">
                          <a:latin typeface="Segoe UI"/>
                        </a:defRPr>
                      </a:pPr>
                      <a:r>
                        <a:t>Virtual Paging</a:t>
                      </a:r>
                    </a:p>
                  </a:txBody>
                  <a:tcPr>
                    <a:solidFill>
                      <a:srgbClr val="172541"/>
                    </a:solidFill>
                  </a:tcPr>
                </a:tc>
                <a:tc>
                  <a:txBody>
                    <a:bodyPr/>
                    <a:lstStyle/>
                    <a:p>
                      <a:pPr algn="l">
                        <a:defRPr sz="900">
                          <a:latin typeface="Segoe UI"/>
                        </a:defRPr>
                      </a:pPr>
                      <a:r>
                        <a:t>LRU (Least Recently Used)</a:t>
                      </a:r>
                    </a:p>
                  </a:txBody>
                  <a:tcPr>
                    <a:solidFill>
                      <a:srgbClr val="172541"/>
                    </a:solidFill>
                  </a:tcPr>
                </a:tc>
                <a:tc>
                  <a:txBody>
                    <a:bodyPr/>
                    <a:lstStyle/>
                    <a:p>
                      <a:pPr algn="ctr">
                        <a:defRPr sz="900">
                          <a:latin typeface="Segoe UI"/>
                        </a:defRPr>
                      </a:pPr>
                      <a:r>
                        <a:t>12 Faults | 40.0% Hit Ratio (F=3)</a:t>
                      </a:r>
                    </a:p>
                  </a:txBody>
                  <a:tcPr>
                    <a:solidFill>
                      <a:srgbClr val="172541"/>
                    </a:solidFill>
                  </a:tcPr>
                </a:tc>
                <a:tc>
                  <a:txBody>
                    <a:bodyPr/>
                    <a:lstStyle/>
                    <a:p>
                      <a:pPr algn="ctr">
                        <a:defRPr sz="900">
                          <a:latin typeface="Segoe UI"/>
                        </a:defRPr>
                      </a:pPr>
                      <a:r>
                        <a:t>+60.0% vs FIFO Hits</a:t>
                      </a:r>
                    </a:p>
                  </a:txBody>
                  <a:tcPr>
                    <a:solidFill>
                      <a:srgbClr val="172541"/>
                    </a:solidFill>
                  </a:tcPr>
                </a:tc>
                <a:tc>
                  <a:txBody>
                    <a:bodyPr/>
                    <a:lstStyle/>
                    <a:p>
                      <a:pPr algn="ctr">
                        <a:defRPr sz="900" b="1">
                          <a:solidFill>
                            <a:srgbClr val="34D399"/>
                          </a:solidFill>
                          <a:latin typeface="Segoe UI"/>
                        </a:defRPr>
                      </a:pPr>
                      <a:r>
                        <a:t>PRACTICAL BEST POLICY</a:t>
                      </a:r>
                    </a:p>
                  </a:txBody>
                  <a:tcPr>
                    <a:solidFill>
                      <a:srgbClr val="172541"/>
                    </a:solidFill>
                  </a:tcPr>
                </a:tc>
              </a:tr>
              <a:tr h="438912">
                <a:tc>
                  <a:txBody>
                    <a:bodyPr/>
                    <a:lstStyle/>
                    <a:p>
                      <a:pPr algn="l">
                        <a:defRPr sz="900">
                          <a:latin typeface="Segoe UI"/>
                        </a:defRPr>
                      </a:pPr>
                      <a:r>
                        <a:t>Virtual Paging</a:t>
                      </a:r>
                    </a:p>
                  </a:txBody>
                  <a:tcPr>
                    <a:solidFill>
                      <a:srgbClr val="121E34"/>
                    </a:solidFill>
                  </a:tcPr>
                </a:tc>
                <a:tc>
                  <a:txBody>
                    <a:bodyPr/>
                    <a:lstStyle/>
                    <a:p>
                      <a:pPr algn="l">
                        <a:defRPr sz="900">
                          <a:latin typeface="Segoe UI"/>
                        </a:defRPr>
                      </a:pPr>
                      <a:r>
                        <a:t>Belady's Anomaly (FIFO)</a:t>
                      </a:r>
                    </a:p>
                  </a:txBody>
                  <a:tcPr>
                    <a:solidFill>
                      <a:srgbClr val="121E34"/>
                    </a:solidFill>
                  </a:tcPr>
                </a:tc>
                <a:tc>
                  <a:txBody>
                    <a:bodyPr/>
                    <a:lstStyle/>
                    <a:p>
                      <a:pPr algn="ctr">
                        <a:defRPr sz="900">
                          <a:latin typeface="Segoe UI"/>
                        </a:defRPr>
                      </a:pPr>
                      <a:r>
                        <a:t>3 Frames: 9 Faults | 4 Frames: 10 Faults</a:t>
                      </a:r>
                    </a:p>
                  </a:txBody>
                  <a:tcPr>
                    <a:solidFill>
                      <a:srgbClr val="121E34"/>
                    </a:solidFill>
                  </a:tcPr>
                </a:tc>
                <a:tc>
                  <a:txBody>
                    <a:bodyPr/>
                    <a:lstStyle/>
                    <a:p>
                      <a:pPr algn="ctr">
                        <a:defRPr sz="900">
                          <a:latin typeface="Segoe UI"/>
                        </a:defRPr>
                      </a:pPr>
                      <a:r>
                        <a:t>-11.1% Efficiency Spike</a:t>
                      </a:r>
                    </a:p>
                  </a:txBody>
                  <a:tcPr>
                    <a:solidFill>
                      <a:srgbClr val="121E34"/>
                    </a:solidFill>
                  </a:tcPr>
                </a:tc>
                <a:tc>
                  <a:txBody>
                    <a:bodyPr/>
                    <a:lstStyle/>
                    <a:p>
                      <a:pPr algn="ctr">
                        <a:defRPr sz="900" b="1">
                          <a:solidFill>
                            <a:srgbClr val="FBBF24"/>
                          </a:solidFill>
                          <a:latin typeface="Segoe UI"/>
                        </a:defRPr>
                      </a:pPr>
                      <a:r>
                        <a:t>ANOMALY PROVEN</a:t>
                      </a:r>
                    </a:p>
                  </a:txBody>
                  <a:tcPr>
                    <a:solidFill>
                      <a:srgbClr val="121E34"/>
                    </a:solidFill>
                  </a:tcPr>
                </a:tc>
              </a:tr>
              <a:tr h="438912">
                <a:tc>
                  <a:txBody>
                    <a:bodyPr/>
                    <a:lstStyle/>
                    <a:p>
                      <a:pPr algn="l">
                        <a:defRPr sz="900">
                          <a:latin typeface="Segoe UI"/>
                        </a:defRPr>
                      </a:pPr>
                      <a:r>
                        <a:t>Disk Scheduling</a:t>
                      </a:r>
                    </a:p>
                  </a:txBody>
                  <a:tcPr>
                    <a:solidFill>
                      <a:srgbClr val="172541"/>
                    </a:solidFill>
                  </a:tcPr>
                </a:tc>
                <a:tc>
                  <a:txBody>
                    <a:bodyPr/>
                    <a:lstStyle/>
                    <a:p>
                      <a:pPr algn="l">
                        <a:defRPr sz="900">
                          <a:latin typeface="Segoe UI"/>
                        </a:defRPr>
                      </a:pPr>
                      <a:r>
                        <a:t>SSTF vs FCFS</a:t>
                      </a:r>
                    </a:p>
                  </a:txBody>
                  <a:tcPr>
                    <a:solidFill>
                      <a:srgbClr val="172541"/>
                    </a:solidFill>
                  </a:tcPr>
                </a:tc>
                <a:tc>
                  <a:txBody>
                    <a:bodyPr/>
                    <a:lstStyle/>
                    <a:p>
                      <a:pPr algn="ctr">
                        <a:defRPr sz="900">
                          <a:latin typeface="Segoe UI"/>
                        </a:defRPr>
                      </a:pPr>
                      <a:r>
                        <a:t>236 Cyl vs 640 Cyl (H0=53)</a:t>
                      </a:r>
                    </a:p>
                  </a:txBody>
                  <a:tcPr>
                    <a:solidFill>
                      <a:srgbClr val="172541"/>
                    </a:solidFill>
                  </a:tcPr>
                </a:tc>
                <a:tc>
                  <a:txBody>
                    <a:bodyPr/>
                    <a:lstStyle/>
                    <a:p>
                      <a:pPr algn="ctr">
                        <a:defRPr sz="900">
                          <a:latin typeface="Segoe UI"/>
                        </a:defRPr>
                      </a:pPr>
                      <a:r>
                        <a:t>+63.1% Seek Reduction</a:t>
                      </a:r>
                    </a:p>
                  </a:txBody>
                  <a:tcPr>
                    <a:solidFill>
                      <a:srgbClr val="172541"/>
                    </a:solidFill>
                  </a:tcPr>
                </a:tc>
                <a:tc>
                  <a:txBody>
                    <a:bodyPr/>
                    <a:lstStyle/>
                    <a:p>
                      <a:pPr algn="ctr">
                        <a:defRPr sz="900" b="1">
                          <a:solidFill>
                            <a:srgbClr val="34D399"/>
                          </a:solidFill>
                          <a:latin typeface="Segoe UI"/>
                        </a:defRPr>
                      </a:pPr>
                      <a:r>
                        <a:t>OPTIMAL SEEK TRAJECTORY</a:t>
                      </a:r>
                    </a:p>
                  </a:txBody>
                  <a:tcPr>
                    <a:solidFill>
                      <a:srgbClr val="172541"/>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TECHNICAL VIVA VOCE DEFENSE</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Examiner Defense Preparation Across All 4 Architecture Domains</a:t>
            </a:r>
          </a:p>
          <a:p>
            <a:pPr>
              <a:defRPr sz="1100">
                <a:solidFill>
                  <a:srgbClr val="94A3B8"/>
                </a:solidFill>
                <a:latin typeface="Segoe UI"/>
              </a:defRPr>
            </a:pPr>
            <a:r>
              <a:t>Key theoretical and engineering questions addressed by each group member</a:t>
            </a:r>
          </a:p>
        </p:txBody>
      </p:sp>
      <p:sp>
        <p:nvSpPr>
          <p:cNvPr id="5" name="Rounded Rectangle 4"/>
          <p:cNvSpPr/>
          <p:nvPr/>
        </p:nvSpPr>
        <p:spPr>
          <a:xfrm>
            <a:off x="731520" y="1645920"/>
            <a:ext cx="2499055" cy="466344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38BDF8"/>
                </a:solidFill>
                <a:latin typeface="Segoe UI"/>
              </a:defRPr>
            </a:pPr>
            <a:r>
              <a:t>MEMBER 1: SHAUNAK (TELEMETRY)</a:t>
            </a:r>
          </a:p>
          <a:p>
            <a:pPr>
              <a:spcAft>
                <a:spcPts val="200"/>
              </a:spcAft>
            </a:pPr>
            <a:r>
              <a:rPr sz="950" b="1">
                <a:solidFill>
                  <a:srgbClr val="FFFFFF"/>
                </a:solidFill>
                <a:latin typeface="Segoe UI"/>
              </a:rPr>
              <a:t>• WebSockets vs SSE/Polling
</a:t>
            </a:r>
            <a:r>
              <a:rPr sz="850">
                <a:solidFill>
                  <a:srgbClr val="94A3B8"/>
                </a:solidFill>
                <a:latin typeface="Segoe UI"/>
              </a:rPr>
              <a:t>Persistent full-duplex socket with 2-byte framing overhead, sub-8ms latency; supports client control commands unlike unidirectional SSE.
</a:t>
            </a:r>
          </a:p>
          <a:p>
            <a:pPr>
              <a:spcAft>
                <a:spcPts val="200"/>
              </a:spcAft>
            </a:pPr>
            <a:r>
              <a:rPr sz="950" b="1">
                <a:solidFill>
                  <a:srgbClr val="FFFFFF"/>
                </a:solidFill>
                <a:latin typeface="Segoe UI"/>
              </a:rPr>
              <a:t>• SQLite WAL Concurrency
</a:t>
            </a:r>
            <a:r>
              <a:rPr sz="850">
                <a:solidFill>
                  <a:srgbClr val="94A3B8"/>
                </a:solidFill>
                <a:latin typeface="Segoe UI"/>
              </a:rPr>
              <a:t>PRAGMA journal_mode=WAL appends writes to .db-wal, enabling concurrent snapshot reads during 350ms telemetry commits.
</a:t>
            </a:r>
          </a:p>
          <a:p>
            <a:pPr>
              <a:spcAft>
                <a:spcPts val="200"/>
              </a:spcAft>
            </a:pPr>
            <a:r>
              <a:rPr sz="950" b="1">
                <a:solidFill>
                  <a:srgbClr val="FFFFFF"/>
                </a:solidFill>
                <a:latin typeface="Segoe UI"/>
              </a:rPr>
              <a:t>• Zero-Overhead Sampling
</a:t>
            </a:r>
            <a:r>
              <a:rPr sz="850">
                <a:solidFill>
                  <a:srgbClr val="94A3B8"/>
                </a:solidFill>
                <a:latin typeface="Segoe UI"/>
              </a:rPr>
              <a:t>Non-blocking deltas via psutil.cpu_percent(interval=None) yielding to asyncio loop; caps agent load under 1.8% CPU.
</a:t>
            </a:r>
          </a:p>
        </p:txBody>
      </p:sp>
      <p:sp>
        <p:nvSpPr>
          <p:cNvPr id="6" name="Rounded Rectangle 5"/>
          <p:cNvSpPr/>
          <p:nvPr/>
        </p:nvSpPr>
        <p:spPr>
          <a:xfrm>
            <a:off x="3474720" y="1645920"/>
            <a:ext cx="2499055" cy="466344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818CF8"/>
                </a:solidFill>
                <a:latin typeface="Segoe UI"/>
              </a:defRPr>
            </a:pPr>
            <a:r>
              <a:t>MEMBER 2: JATIN (CPU SCHEDULING)</a:t>
            </a:r>
          </a:p>
          <a:p>
            <a:pPr>
              <a:spcAft>
                <a:spcPts val="200"/>
              </a:spcAft>
            </a:pPr>
            <a:r>
              <a:rPr sz="950" b="1">
                <a:solidFill>
                  <a:srgbClr val="FFFFFF"/>
                </a:solidFill>
                <a:latin typeface="Segoe UI"/>
              </a:rPr>
              <a:t>• SRTF Greedy Optimality
</a:t>
            </a:r>
            <a:r>
              <a:rPr sz="850">
                <a:solidFill>
                  <a:srgbClr val="94A3B8"/>
                </a:solidFill>
                <a:latin typeface="Segoe UI"/>
              </a:rPr>
              <a:t>Prioritizing shorter bursts reduces wait time of subsequent ready jobs by the swap duration, strictly reducing cumulative wait time sum.
</a:t>
            </a:r>
          </a:p>
          <a:p>
            <a:pPr>
              <a:spcAft>
                <a:spcPts val="200"/>
              </a:spcAft>
            </a:pPr>
            <a:r>
              <a:rPr sz="950" b="1">
                <a:solidFill>
                  <a:srgbClr val="FFFFFF"/>
                </a:solidFill>
                <a:latin typeface="Segoe UI"/>
              </a:rPr>
              <a:t>• Starvation &amp; Aging
</a:t>
            </a:r>
            <a:r>
              <a:rPr sz="850">
                <a:solidFill>
                  <a:srgbClr val="94A3B8"/>
                </a:solidFill>
                <a:latin typeface="Segoe UI"/>
              </a:rPr>
              <a:t>Continuous short job arrivals starve long jobs in SRTF; resolved in production kernels through dynamic priority aging over time.
</a:t>
            </a:r>
          </a:p>
          <a:p>
            <a:pPr>
              <a:spcAft>
                <a:spcPts val="200"/>
              </a:spcAft>
            </a:pPr>
            <a:r>
              <a:rPr sz="950" b="1">
                <a:solidFill>
                  <a:srgbClr val="FFFFFF"/>
                </a:solidFill>
                <a:latin typeface="Segoe UI"/>
              </a:rPr>
              <a:t>• Quantum (q) Selection
</a:t>
            </a:r>
            <a:r>
              <a:rPr sz="850">
                <a:solidFill>
                  <a:srgbClr val="94A3B8"/>
                </a:solidFill>
                <a:latin typeface="Segoe UI"/>
              </a:rPr>
              <a:t>q too large yields FCFS convoy effect; q too small causes context-switch thrashing. Optimal rule: 80% bursts finish in 1 quantum.
</a:t>
            </a:r>
          </a:p>
        </p:txBody>
      </p:sp>
      <p:sp>
        <p:nvSpPr>
          <p:cNvPr id="7" name="Rounded Rectangle 6"/>
          <p:cNvSpPr/>
          <p:nvPr/>
        </p:nvSpPr>
        <p:spPr>
          <a:xfrm>
            <a:off x="6217920" y="1645920"/>
            <a:ext cx="2499055" cy="466344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10B981"/>
                </a:solidFill>
                <a:latin typeface="Segoe UI"/>
              </a:defRPr>
            </a:pPr>
            <a:r>
              <a:t>MEMBER 3: SWANAND (MEMORY &amp; PAGING)</a:t>
            </a:r>
          </a:p>
          <a:p>
            <a:pPr>
              <a:spcAft>
                <a:spcPts val="200"/>
              </a:spcAft>
            </a:pPr>
            <a:r>
              <a:rPr sz="950" b="1">
                <a:solidFill>
                  <a:srgbClr val="FFFFFF"/>
                </a:solidFill>
                <a:latin typeface="Segoe UI"/>
              </a:rPr>
              <a:t>• Internal vs External Frag
</a:t>
            </a:r>
            <a:r>
              <a:rPr sz="850">
                <a:solidFill>
                  <a:srgbClr val="94A3B8"/>
                </a:solidFill>
                <a:latin typeface="Segoe UI"/>
              </a:rPr>
              <a:t>Internal is unused space trapped inside allocated partitions; External is fragmented free holes. Compaction consolidates holes to fix external.
</a:t>
            </a:r>
          </a:p>
          <a:p>
            <a:pPr>
              <a:spcAft>
                <a:spcPts val="200"/>
              </a:spcAft>
            </a:pPr>
            <a:r>
              <a:rPr sz="950" b="1">
                <a:solidFill>
                  <a:srgbClr val="FFFFFF"/>
                </a:solidFill>
                <a:latin typeface="Segoe UI"/>
              </a:rPr>
              <a:t>• Belady's Stack Proof
</a:t>
            </a:r>
            <a:r>
              <a:rPr sz="850">
                <a:solidFill>
                  <a:srgbClr val="94A3B8"/>
                </a:solidFill>
                <a:latin typeface="Segoe UI"/>
              </a:rPr>
              <a:t>Stack algorithms satisfy inclusion M_t(F) ⊆ M_t(F+1). LRU is stack-based and immune; FIFO replaces oldest queue item, violating inclusion.
</a:t>
            </a:r>
          </a:p>
          <a:p>
            <a:pPr>
              <a:spcAft>
                <a:spcPts val="200"/>
              </a:spcAft>
            </a:pPr>
            <a:r>
              <a:rPr sz="950" b="1">
                <a:solidFill>
                  <a:srgbClr val="FFFFFF"/>
                </a:solidFill>
                <a:latin typeface="Segoe UI"/>
              </a:rPr>
              <a:t>• Allocation Trade-offs
</a:t>
            </a:r>
            <a:r>
              <a:rPr sz="850">
                <a:solidFill>
                  <a:srgbClr val="94A3B8"/>
                </a:solidFill>
                <a:latin typeface="Segoe UI"/>
              </a:rPr>
              <a:t>First Fit is fastest O(n); Best Fit leaves micro-shreds; Worst Fit preserves large residual holes; Compaction relocates to base 0 KB.
</a:t>
            </a:r>
          </a:p>
        </p:txBody>
      </p:sp>
      <p:sp>
        <p:nvSpPr>
          <p:cNvPr id="8" name="Rounded Rectangle 7"/>
          <p:cNvSpPr/>
          <p:nvPr/>
        </p:nvSpPr>
        <p:spPr>
          <a:xfrm>
            <a:off x="8961120" y="1645920"/>
            <a:ext cx="2499055" cy="466344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09728" rIns="109728"/>
          <a:lstStyle/>
          <a:p>
            <a:pPr algn="l">
              <a:defRPr sz="1300" b="1">
                <a:solidFill>
                  <a:srgbClr val="F59E0B"/>
                </a:solidFill>
                <a:latin typeface="Segoe UI"/>
              </a:defRPr>
            </a:pPr>
            <a:r>
              <a:t>MEMBER 4: TRUNAL (DISK, DEADLOCK &amp; SHELL)</a:t>
            </a:r>
          </a:p>
          <a:p>
            <a:pPr>
              <a:spcAft>
                <a:spcPts val="200"/>
              </a:spcAft>
            </a:pPr>
            <a:r>
              <a:rPr sz="950" b="1">
                <a:solidFill>
                  <a:srgbClr val="FFFFFF"/>
                </a:solidFill>
                <a:latin typeface="Segoe UI"/>
              </a:rPr>
              <a:t>• Unsafe vs Deadlock State
</a:t>
            </a:r>
            <a:r>
              <a:rPr sz="850">
                <a:solidFill>
                  <a:srgbClr val="94A3B8"/>
                </a:solidFill>
                <a:latin typeface="Segoe UI"/>
              </a:rPr>
              <a:t>Unsafe state is not deadlocked yet, but cannot guarantee completion if all request max resources. Deadlock is active mutual permanent blocking.
</a:t>
            </a:r>
          </a:p>
          <a:p>
            <a:pPr>
              <a:spcAft>
                <a:spcPts val="200"/>
              </a:spcAft>
            </a:pPr>
            <a:r>
              <a:rPr sz="950" b="1">
                <a:solidFill>
                  <a:srgbClr val="FFFFFF"/>
                </a:solidFill>
                <a:latin typeface="Segoe UI"/>
              </a:rPr>
              <a:t>• LOOK vs SCAN Advantage
</a:t>
            </a:r>
            <a:r>
              <a:rPr sz="850">
                <a:solidFill>
                  <a:srgbClr val="94A3B8"/>
                </a:solidFill>
                <a:latin typeface="Segoe UI"/>
              </a:rPr>
              <a:t>SCAN sweeps to cylinder 199 boundary needlessly. LOOK reverses immediately after furthest outstanding request (183), saving 32 tracks.
</a:t>
            </a:r>
          </a:p>
          <a:p>
            <a:pPr>
              <a:spcAft>
                <a:spcPts val="200"/>
              </a:spcAft>
            </a:pPr>
            <a:r>
              <a:rPr sz="950" b="1">
                <a:solidFill>
                  <a:srgbClr val="FFFFFF"/>
                </a:solidFill>
                <a:latin typeface="Segoe UI"/>
              </a:rPr>
              <a:t>• Web Terminal Watchdog
</a:t>
            </a:r>
            <a:r>
              <a:rPr sz="850">
                <a:solidFill>
                  <a:srgbClr val="94A3B8"/>
                </a:solidFill>
                <a:latin typeface="Segoe UI"/>
              </a:rPr>
              <a:t>Async subprocess runner with 15.0s asyncio.wait_for timeout; dispatches SIGTERM process group kill on hanging loops.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none" tIns="36576" bIns="36576" lIns="109728" rIns="109728"/>
          <a:lstStyle/>
          <a:p>
            <a:pPr algn="l">
              <a:defRPr sz="1000" b="1">
                <a:solidFill>
                  <a:srgbClr val="38BDF8"/>
                </a:solidFill>
                <a:latin typeface="Segoe UI"/>
              </a:defRPr>
            </a:pPr>
            <a:r>
              <a:t>PROJECT CONCLUSION &amp; ROADMAP</a:t>
            </a:r>
          </a:p>
        </p:txBody>
      </p:sp>
      <p:sp>
        <p:nvSpPr>
          <p:cNvPr id="4" name="TextBox 3"/>
          <p:cNvSpPr txBox="1"/>
          <p:nvPr/>
        </p:nvSpPr>
        <p:spPr>
          <a:xfrm>
            <a:off x="731520" y="731520"/>
            <a:ext cx="10698480" cy="548640"/>
          </a:xfrm>
          <a:prstGeom prst="rect">
            <a:avLst/>
          </a:prstGeom>
          <a:noFill/>
        </p:spPr>
        <p:txBody>
          <a:bodyPr wrap="square" lIns="0" tIns="0">
            <a:spAutoFit/>
          </a:bodyPr>
          <a:lstStyle/>
          <a:p>
            <a:pPr>
              <a:defRPr sz="2000" b="1">
                <a:solidFill>
                  <a:srgbClr val="FFFFFF"/>
                </a:solidFill>
                <a:latin typeface="Segoe UI"/>
              </a:defRPr>
            </a:pPr>
            <a:r>
              <a:t>Project Deliverables, Pedagogical Impact &amp; Future Scope</a:t>
            </a:r>
          </a:p>
          <a:p>
            <a:pPr>
              <a:defRPr sz="1100">
                <a:solidFill>
                  <a:srgbClr val="94A3B8"/>
                </a:solidFill>
                <a:latin typeface="Segoe UI"/>
              </a:defRPr>
            </a:pPr>
            <a:r>
              <a:t>Bridging theoretical computer science pedagogy with real-world kernel telemetry systems</a:t>
            </a:r>
          </a:p>
        </p:txBody>
      </p:sp>
      <p:sp>
        <p:nvSpPr>
          <p:cNvPr id="5" name="Rounded Rectangle 4"/>
          <p:cNvSpPr/>
          <p:nvPr/>
        </p:nvSpPr>
        <p:spPr>
          <a:xfrm>
            <a:off x="731520" y="1645920"/>
            <a:ext cx="3383280" cy="39319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38BDF8"/>
                </a:solidFill>
                <a:latin typeface="Segoe UI"/>
              </a:defRPr>
            </a:pPr>
            <a:r>
              <a:t>PROJECT DELIVERABLES</a:t>
            </a:r>
          </a:p>
          <a:p>
            <a:pPr>
              <a:spcAft>
                <a:spcPts val="600"/>
              </a:spcAft>
            </a:pPr>
            <a:r>
              <a:rPr sz="1050" b="1">
                <a:solidFill>
                  <a:srgbClr val="FFFFFF"/>
                </a:solidFill>
                <a:latin typeface="Segoe UI"/>
              </a:rPr>
              <a:t>▪ Unified Full-Stack Application  -  </a:t>
            </a:r>
            <a:r>
              <a:rPr sz="1000">
                <a:solidFill>
                  <a:srgbClr val="94A3B8"/>
                </a:solidFill>
                <a:latin typeface="Segoe UI"/>
              </a:rPr>
              <a:t>FastAPI ASGI backend, asynchronous WebSocket broadcaster, and HTML5/CSS3 frontend running on port 8000.</a:t>
            </a:r>
          </a:p>
          <a:p>
            <a:pPr>
              <a:spcAft>
                <a:spcPts val="600"/>
              </a:spcAft>
            </a:pPr>
            <a:r>
              <a:rPr sz="1050" b="1">
                <a:solidFill>
                  <a:srgbClr val="FFFFFF"/>
                </a:solidFill>
                <a:latin typeface="Segoe UI"/>
              </a:rPr>
              <a:t>▪ 7 Interactive Algorithmic Solvers  -  </a:t>
            </a:r>
            <a:r>
              <a:rPr sz="1000">
                <a:solidFill>
                  <a:srgbClr val="94A3B8"/>
                </a:solidFill>
                <a:latin typeface="Segoe UI"/>
              </a:rPr>
              <a:t>Fully functional discrete event simulators with dynamic SVG Gantt, 2D paging matrix, disk seek charts, and RAG graphs.</a:t>
            </a:r>
          </a:p>
          <a:p>
            <a:pPr>
              <a:spcAft>
                <a:spcPts val="600"/>
              </a:spcAft>
            </a:pPr>
            <a:r>
              <a:rPr sz="1050" b="1">
                <a:solidFill>
                  <a:srgbClr val="FFFFFF"/>
                </a:solidFill>
                <a:latin typeface="Segoe UI"/>
              </a:rPr>
              <a:t>▪ 9-Page Defense Documentation  -  </a:t>
            </a:r>
            <a:r>
              <a:rPr sz="1000">
                <a:solidFill>
                  <a:srgbClr val="94A3B8"/>
                </a:solidFill>
                <a:latin typeface="Segoe UI"/>
              </a:rPr>
              <a:t>Exact 9-page formal academic report with 2 dedicated pages per group member (PDF, DOCX, and Markdown).</a:t>
            </a:r>
          </a:p>
          <a:p>
            <a:pPr>
              <a:spcAft>
                <a:spcPts val="600"/>
              </a:spcAft>
            </a:pPr>
            <a:r>
              <a:rPr sz="1050" b="1">
                <a:solidFill>
                  <a:srgbClr val="FFFFFF"/>
                </a:solidFill>
                <a:latin typeface="Segoe UI"/>
              </a:rPr>
              <a:t>▪ Open-Source GitHub Repository  -  </a:t>
            </a:r>
            <a:r>
              <a:rPr sz="1000">
                <a:solidFill>
                  <a:srgbClr val="94A3B8"/>
                </a:solidFill>
                <a:latin typeface="Segoe UI"/>
              </a:rPr>
              <a:t>Complete codebase pushed and version controlled with Electron desktop launcher integration.</a:t>
            </a:r>
          </a:p>
        </p:txBody>
      </p:sp>
      <p:sp>
        <p:nvSpPr>
          <p:cNvPr id="6" name="Rounded Rectangle 5"/>
          <p:cNvSpPr/>
          <p:nvPr/>
        </p:nvSpPr>
        <p:spPr>
          <a:xfrm>
            <a:off x="4389120" y="1645920"/>
            <a:ext cx="3474720" cy="39319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818CF8"/>
                </a:solidFill>
                <a:latin typeface="Segoe UI"/>
              </a:defRPr>
            </a:pPr>
            <a:r>
              <a:t>PEDAGOGICAL &amp; ENGINEERING IMPACT</a:t>
            </a:r>
          </a:p>
          <a:p>
            <a:pPr>
              <a:spcAft>
                <a:spcPts val="600"/>
              </a:spcAft>
            </a:pPr>
            <a:r>
              <a:rPr sz="1050" b="1">
                <a:solidFill>
                  <a:srgbClr val="FFFFFF"/>
                </a:solidFill>
                <a:latin typeface="Segoe UI"/>
              </a:rPr>
              <a:t>▪ Bridges Theory &amp; Production  -  </a:t>
            </a:r>
            <a:r>
              <a:rPr sz="1000">
                <a:solidFill>
                  <a:srgbClr val="94A3B8"/>
                </a:solidFill>
                <a:latin typeface="Segoe UI"/>
              </a:rPr>
              <a:t>Directly correlates textbook algorithm mechanics with live 0.35s hardware utilization counters.</a:t>
            </a:r>
          </a:p>
          <a:p>
            <a:pPr>
              <a:spcAft>
                <a:spcPts val="600"/>
              </a:spcAft>
            </a:pPr>
            <a:r>
              <a:rPr sz="1050" b="1">
                <a:solidFill>
                  <a:srgbClr val="FFFFFF"/>
                </a:solidFill>
                <a:latin typeface="Segoe UI"/>
              </a:rPr>
              <a:t>▪ Empirical Proof of Edge Cases  -  </a:t>
            </a:r>
            <a:r>
              <a:rPr sz="1000">
                <a:solidFill>
                  <a:srgbClr val="94A3B8"/>
                </a:solidFill>
                <a:latin typeface="Segoe UI"/>
              </a:rPr>
              <a:t>Provides reproducible interactive demonstrations of Belady's Anomaly, convoy effects, and deadlock circular waits.</a:t>
            </a:r>
          </a:p>
          <a:p>
            <a:pPr>
              <a:spcAft>
                <a:spcPts val="600"/>
              </a:spcAft>
            </a:pPr>
            <a:r>
              <a:rPr sz="1050" b="1">
                <a:solidFill>
                  <a:srgbClr val="FFFFFF"/>
                </a:solidFill>
                <a:latin typeface="Segoe UI"/>
              </a:rPr>
              <a:t>▪ Zero Installation Footprint  -  </a:t>
            </a:r>
            <a:r>
              <a:rPr sz="1000">
                <a:solidFill>
                  <a:srgbClr val="94A3B8"/>
                </a:solidFill>
                <a:latin typeface="Segoe UI"/>
              </a:rPr>
              <a:t>Lightweight single-command execution serving web interface locally without heavy virtualization dependencies.</a:t>
            </a:r>
          </a:p>
          <a:p>
            <a:pPr>
              <a:spcAft>
                <a:spcPts val="600"/>
              </a:spcAft>
            </a:pPr>
            <a:r>
              <a:rPr sz="1050" b="1">
                <a:solidFill>
                  <a:srgbClr val="FFFFFF"/>
                </a:solidFill>
                <a:latin typeface="Segoe UI"/>
              </a:rPr>
              <a:t>▪ Sub-2% System Overhead  -  </a:t>
            </a:r>
            <a:r>
              <a:rPr sz="1000">
                <a:solidFill>
                  <a:srgbClr val="94A3B8"/>
                </a:solidFill>
                <a:latin typeface="Segoe UI"/>
              </a:rPr>
              <a:t>Guarantees host diagnostic monitoring without inducing observer distortion.</a:t>
            </a:r>
          </a:p>
        </p:txBody>
      </p:sp>
      <p:sp>
        <p:nvSpPr>
          <p:cNvPr id="7" name="Rounded Rectangle 6"/>
          <p:cNvSpPr/>
          <p:nvPr/>
        </p:nvSpPr>
        <p:spPr>
          <a:xfrm>
            <a:off x="8138160" y="1645920"/>
            <a:ext cx="3322015" cy="3931920"/>
          </a:xfrm>
          <a:prstGeom prst="roundRect">
            <a:avLst/>
          </a:prstGeom>
          <a:solidFill>
            <a:srgbClr val="172541"/>
          </a:solidFill>
          <a:ln w="15240">
            <a:solidFill>
              <a:srgbClr val="2E4469"/>
            </a:solidFill>
          </a:ln>
        </p:spPr>
        <p:style>
          <a:lnRef idx="1">
            <a:schemeClr val="accent1"/>
          </a:lnRef>
          <a:fillRef idx="3">
            <a:schemeClr val="accent1"/>
          </a:fillRef>
          <a:effectRef idx="2">
            <a:schemeClr val="accent1"/>
          </a:effectRef>
          <a:fontRef idx="minor">
            <a:schemeClr val="lt1"/>
          </a:fontRef>
        </p:style>
        <p:txBody>
          <a:bodyPr rtlCol="0" anchor="ctr" wrap="square" tIns="128016" lIns="137160" rIns="137160"/>
          <a:lstStyle/>
          <a:p>
            <a:pPr algn="l">
              <a:defRPr sz="1300" b="1">
                <a:solidFill>
                  <a:srgbClr val="10B981"/>
                </a:solidFill>
                <a:latin typeface="Segoe UI"/>
              </a:defRPr>
            </a:pPr>
            <a:r>
              <a:t>FUTURE RESEARCH ROADMAP</a:t>
            </a:r>
          </a:p>
          <a:p>
            <a:pPr>
              <a:spcAft>
                <a:spcPts val="600"/>
              </a:spcAft>
            </a:pPr>
            <a:r>
              <a:rPr sz="1050" b="1">
                <a:solidFill>
                  <a:srgbClr val="FFFFFF"/>
                </a:solidFill>
                <a:latin typeface="Segoe UI"/>
              </a:rPr>
              <a:t>▪ Distributed Cluster Telemetry  -  </a:t>
            </a:r>
            <a:r>
              <a:rPr sz="1000">
                <a:solidFill>
                  <a:srgbClr val="94A3B8"/>
                </a:solidFill>
                <a:latin typeface="Segoe UI"/>
              </a:rPr>
              <a:t>Extending telemetry across multi-node distributed clusters utilizing gRPC and Raft consensus protocols.</a:t>
            </a:r>
          </a:p>
          <a:p>
            <a:pPr>
              <a:spcAft>
                <a:spcPts val="600"/>
              </a:spcAft>
            </a:pPr>
            <a:r>
              <a:rPr sz="1050" b="1">
                <a:solidFill>
                  <a:srgbClr val="FFFFFF"/>
                </a:solidFill>
                <a:latin typeface="Segoe UI"/>
              </a:rPr>
              <a:t>▪ Linux eBPF Kernel Probes  -  </a:t>
            </a:r>
            <a:r>
              <a:rPr sz="1000">
                <a:solidFill>
                  <a:srgbClr val="94A3B8"/>
                </a:solidFill>
                <a:latin typeface="Segoe UI"/>
              </a:rPr>
              <a:t>Integrating extended Berkeley Packet Filters (eBPF) for deep kernel syscall tracing and network latency profiling.</a:t>
            </a:r>
          </a:p>
          <a:p>
            <a:pPr>
              <a:spcAft>
                <a:spcPts val="600"/>
              </a:spcAft>
            </a:pPr>
            <a:r>
              <a:rPr sz="1050" b="1">
                <a:solidFill>
                  <a:srgbClr val="FFFFFF"/>
                </a:solidFill>
                <a:latin typeface="Segoe UI"/>
              </a:rPr>
              <a:t>▪ ML Predictive Schedulers  -  </a:t>
            </a:r>
            <a:r>
              <a:rPr sz="1000">
                <a:solidFill>
                  <a:srgbClr val="94A3B8"/>
                </a:solidFill>
                <a:latin typeface="Segoe UI"/>
              </a:rPr>
              <a:t>Implementing reinforcement learning models to predict optimal CPU scheduling policies based on historical burst patterns.</a:t>
            </a:r>
          </a:p>
          <a:p>
            <a:pPr>
              <a:spcAft>
                <a:spcPts val="600"/>
              </a:spcAft>
            </a:pPr>
            <a:r>
              <a:rPr sz="1050" b="1">
                <a:solidFill>
                  <a:srgbClr val="FFFFFF"/>
                </a:solidFill>
                <a:latin typeface="Segoe UI"/>
              </a:rPr>
              <a:t>▪ Hardware Cache Simulation  -  </a:t>
            </a:r>
            <a:r>
              <a:rPr sz="1000">
                <a:solidFill>
                  <a:srgbClr val="94A3B8"/>
                </a:solidFill>
                <a:latin typeface="Segoe UI"/>
              </a:rPr>
              <a:t>Simulating L1/L2/L3 cache misses and TLB page translation hit ratios.</a:t>
            </a:r>
          </a:p>
        </p:txBody>
      </p:sp>
      <p:sp>
        <p:nvSpPr>
          <p:cNvPr id="8" name="Rectangle 7"/>
          <p:cNvSpPr/>
          <p:nvPr/>
        </p:nvSpPr>
        <p:spPr>
          <a:xfrm>
            <a:off x="731520" y="5760720"/>
            <a:ext cx="10728655" cy="548640"/>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defRPr sz="1000" b="1">
                <a:solidFill>
                  <a:srgbClr val="FFFFFF"/>
                </a:solidFill>
                <a:latin typeface="Segoe UI"/>
              </a:defRPr>
            </a:pPr>
            <a:r>
              <a:t>GitHub Repository: https://github.com/swanandmore/OS-management-.git   |   Vishwakarma Institute of Technology, Pune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